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41" r:id="rId2"/>
    <p:sldId id="412" r:id="rId3"/>
    <p:sldId id="469" r:id="rId4"/>
    <p:sldId id="415" r:id="rId5"/>
    <p:sldId id="470" r:id="rId6"/>
    <p:sldId id="458" r:id="rId7"/>
    <p:sldId id="471" r:id="rId8"/>
    <p:sldId id="441" r:id="rId9"/>
    <p:sldId id="472" r:id="rId10"/>
    <p:sldId id="473" r:id="rId11"/>
    <p:sldId id="459" r:id="rId12"/>
    <p:sldId id="474" r:id="rId13"/>
    <p:sldId id="475" r:id="rId14"/>
    <p:sldId id="490" r:id="rId15"/>
    <p:sldId id="491" r:id="rId16"/>
    <p:sldId id="492" r:id="rId17"/>
    <p:sldId id="493" r:id="rId18"/>
    <p:sldId id="494" r:id="rId19"/>
    <p:sldId id="495" r:id="rId20"/>
    <p:sldId id="496" r:id="rId21"/>
    <p:sldId id="366" r:id="rId22"/>
    <p:sldId id="428" r:id="rId23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629DC-9C1F-4C02-BC1A-50939C64D642}" v="1" dt="2024-02-26T11:08:24.21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2" autoAdjust="0"/>
    <p:restoredTop sz="94660"/>
  </p:normalViewPr>
  <p:slideViewPr>
    <p:cSldViewPr>
      <p:cViewPr varScale="1">
        <p:scale>
          <a:sx n="82" d="100"/>
          <a:sy n="82" d="100"/>
        </p:scale>
        <p:origin x="90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ner Brezolin" userId="5965b03a-a112-4328-8103-b970c0ab26ec" providerId="ADAL" clId="{262497ED-B16F-4ECA-A33E-4DB81DAE9DB4}"/>
    <pc:docChg chg="undo custSel modSld">
      <pc:chgData name="Warner Brezolin" userId="5965b03a-a112-4328-8103-b970c0ab26ec" providerId="ADAL" clId="{262497ED-B16F-4ECA-A33E-4DB81DAE9DB4}" dt="2021-08-27T22:37:20.091" v="29" actId="14100"/>
      <pc:docMkLst>
        <pc:docMk/>
      </pc:docMkLst>
      <pc:sldChg chg="modSp mod">
        <pc:chgData name="Warner Brezolin" userId="5965b03a-a112-4328-8103-b970c0ab26ec" providerId="ADAL" clId="{262497ED-B16F-4ECA-A33E-4DB81DAE9DB4}" dt="2021-08-27T22:20:10.116" v="6" actId="1076"/>
        <pc:sldMkLst>
          <pc:docMk/>
          <pc:sldMk cId="3576566493" sldId="415"/>
        </pc:sldMkLst>
        <pc:picChg chg="mod">
          <ac:chgData name="Warner Brezolin" userId="5965b03a-a112-4328-8103-b970c0ab26ec" providerId="ADAL" clId="{262497ED-B16F-4ECA-A33E-4DB81DAE9DB4}" dt="2021-08-27T22:20:10.116" v="6" actId="1076"/>
          <ac:picMkLst>
            <pc:docMk/>
            <pc:sldMk cId="3576566493" sldId="415"/>
            <ac:picMk id="2" creationId="{00000000-0000-0000-0000-000000000000}"/>
          </ac:picMkLst>
        </pc:picChg>
      </pc:sldChg>
      <pc:sldChg chg="modSp mod">
        <pc:chgData name="Warner Brezolin" userId="5965b03a-a112-4328-8103-b970c0ab26ec" providerId="ADAL" clId="{262497ED-B16F-4ECA-A33E-4DB81DAE9DB4}" dt="2021-08-27T22:37:20.091" v="29" actId="14100"/>
        <pc:sldMkLst>
          <pc:docMk/>
          <pc:sldMk cId="945677960" sldId="441"/>
        </pc:sldMkLst>
        <pc:picChg chg="mod">
          <ac:chgData name="Warner Brezolin" userId="5965b03a-a112-4328-8103-b970c0ab26ec" providerId="ADAL" clId="{262497ED-B16F-4ECA-A33E-4DB81DAE9DB4}" dt="2021-08-27T22:37:16.684" v="27" actId="1076"/>
          <ac:picMkLst>
            <pc:docMk/>
            <pc:sldMk cId="945677960" sldId="441"/>
            <ac:picMk id="16" creationId="{00000000-0000-0000-0000-000000000000}"/>
          </ac:picMkLst>
        </pc:picChg>
        <pc:picChg chg="mod">
          <ac:chgData name="Warner Brezolin" userId="5965b03a-a112-4328-8103-b970c0ab26ec" providerId="ADAL" clId="{262497ED-B16F-4ECA-A33E-4DB81DAE9DB4}" dt="2021-08-27T22:37:20.091" v="29" actId="14100"/>
          <ac:picMkLst>
            <pc:docMk/>
            <pc:sldMk cId="945677960" sldId="441"/>
            <ac:picMk id="17" creationId="{00000000-0000-0000-0000-000000000000}"/>
          </ac:picMkLst>
        </pc:picChg>
      </pc:sldChg>
      <pc:sldChg chg="modSp mod">
        <pc:chgData name="Warner Brezolin" userId="5965b03a-a112-4328-8103-b970c0ab26ec" providerId="ADAL" clId="{262497ED-B16F-4ECA-A33E-4DB81DAE9DB4}" dt="2021-08-27T22:17:10.785" v="1" actId="14100"/>
        <pc:sldMkLst>
          <pc:docMk/>
          <pc:sldMk cId="680655403" sldId="469"/>
        </pc:sldMkLst>
        <pc:picChg chg="mod">
          <ac:chgData name="Warner Brezolin" userId="5965b03a-a112-4328-8103-b970c0ab26ec" providerId="ADAL" clId="{262497ED-B16F-4ECA-A33E-4DB81DAE9DB4}" dt="2021-08-27T22:17:10.785" v="1" actId="14100"/>
          <ac:picMkLst>
            <pc:docMk/>
            <pc:sldMk cId="680655403" sldId="469"/>
            <ac:picMk id="4" creationId="{00000000-0000-0000-0000-000000000000}"/>
          </ac:picMkLst>
        </pc:picChg>
      </pc:sldChg>
      <pc:sldChg chg="modSp mod">
        <pc:chgData name="Warner Brezolin" userId="5965b03a-a112-4328-8103-b970c0ab26ec" providerId="ADAL" clId="{262497ED-B16F-4ECA-A33E-4DB81DAE9DB4}" dt="2021-08-27T22:30:26.562" v="11" actId="1076"/>
        <pc:sldMkLst>
          <pc:docMk/>
          <pc:sldMk cId="3781053132" sldId="470"/>
        </pc:sldMkLst>
        <pc:picChg chg="mod">
          <ac:chgData name="Warner Brezolin" userId="5965b03a-a112-4328-8103-b970c0ab26ec" providerId="ADAL" clId="{262497ED-B16F-4ECA-A33E-4DB81DAE9DB4}" dt="2021-08-27T22:30:26.562" v="11" actId="1076"/>
          <ac:picMkLst>
            <pc:docMk/>
            <pc:sldMk cId="3781053132" sldId="470"/>
            <ac:picMk id="3" creationId="{00000000-0000-0000-0000-000000000000}"/>
          </ac:picMkLst>
        </pc:picChg>
      </pc:sldChg>
      <pc:sldChg chg="modSp mod">
        <pc:chgData name="Warner Brezolin" userId="5965b03a-a112-4328-8103-b970c0ab26ec" providerId="ADAL" clId="{262497ED-B16F-4ECA-A33E-4DB81DAE9DB4}" dt="2021-08-27T22:36:04.671" v="22" actId="6549"/>
        <pc:sldMkLst>
          <pc:docMk/>
          <pc:sldMk cId="3470149812" sldId="471"/>
        </pc:sldMkLst>
        <pc:spChg chg="mod">
          <ac:chgData name="Warner Brezolin" userId="5965b03a-a112-4328-8103-b970c0ab26ec" providerId="ADAL" clId="{262497ED-B16F-4ECA-A33E-4DB81DAE9DB4}" dt="2021-08-27T22:36:04.671" v="22" actId="6549"/>
          <ac:spMkLst>
            <pc:docMk/>
            <pc:sldMk cId="3470149812" sldId="471"/>
            <ac:spMk id="13" creationId="{00000000-0000-0000-0000-000000000000}"/>
          </ac:spMkLst>
        </pc:spChg>
      </pc:sldChg>
    </pc:docChg>
  </pc:docChgLst>
  <pc:docChgLst>
    <pc:chgData name="WARNER BREZOLIN" userId="5965b03a-a112-4328-8103-b970c0ab26ec" providerId="ADAL" clId="{262497ED-B16F-4ECA-A33E-4DB81DAE9DB4}"/>
    <pc:docChg chg="modSld">
      <pc:chgData name="WARNER BREZOLIN" userId="5965b03a-a112-4328-8103-b970c0ab26ec" providerId="ADAL" clId="{262497ED-B16F-4ECA-A33E-4DB81DAE9DB4}" dt="2021-08-27T14:22:55.748" v="2" actId="113"/>
      <pc:docMkLst>
        <pc:docMk/>
      </pc:docMkLst>
      <pc:sldChg chg="modSp mod">
        <pc:chgData name="WARNER BREZOLIN" userId="5965b03a-a112-4328-8103-b970c0ab26ec" providerId="ADAL" clId="{262497ED-B16F-4ECA-A33E-4DB81DAE9DB4}" dt="2021-08-27T14:22:55.748" v="2" actId="113"/>
        <pc:sldMkLst>
          <pc:docMk/>
          <pc:sldMk cId="3843843394" sldId="498"/>
        </pc:sldMkLst>
        <pc:spChg chg="mod">
          <ac:chgData name="WARNER BREZOLIN" userId="5965b03a-a112-4328-8103-b970c0ab26ec" providerId="ADAL" clId="{262497ED-B16F-4ECA-A33E-4DB81DAE9DB4}" dt="2021-08-27T14:22:55.748" v="2" actId="113"/>
          <ac:spMkLst>
            <pc:docMk/>
            <pc:sldMk cId="3843843394" sldId="498"/>
            <ac:spMk id="6" creationId="{00000000-0000-0000-0000-000000000000}"/>
          </ac:spMkLst>
        </pc:spChg>
      </pc:sldChg>
    </pc:docChg>
  </pc:docChgLst>
  <pc:docChgLst>
    <pc:chgData name="WARNER BREZOLIN" userId="5965b03a-a112-4328-8103-b970c0ab26ec" providerId="ADAL" clId="{A812C64B-742C-4037-99F4-2D9069A009A0}"/>
    <pc:docChg chg="custSel addSld modSld">
      <pc:chgData name="WARNER BREZOLIN" userId="5965b03a-a112-4328-8103-b970c0ab26ec" providerId="ADAL" clId="{A812C64B-742C-4037-99F4-2D9069A009A0}" dt="2022-08-17T10:51:43.507" v="17" actId="478"/>
      <pc:docMkLst>
        <pc:docMk/>
      </pc:docMkLst>
      <pc:sldChg chg="delSp modSp mod">
        <pc:chgData name="WARNER BREZOLIN" userId="5965b03a-a112-4328-8103-b970c0ab26ec" providerId="ADAL" clId="{A812C64B-742C-4037-99F4-2D9069A009A0}" dt="2022-08-17T10:51:43.507" v="17" actId="478"/>
        <pc:sldMkLst>
          <pc:docMk/>
          <pc:sldMk cId="3021931668" sldId="341"/>
        </pc:sldMkLst>
        <pc:spChg chg="mod">
          <ac:chgData name="WARNER BREZOLIN" userId="5965b03a-a112-4328-8103-b970c0ab26ec" providerId="ADAL" clId="{A812C64B-742C-4037-99F4-2D9069A009A0}" dt="2022-08-17T10:51:35.978" v="16" actId="20577"/>
          <ac:spMkLst>
            <pc:docMk/>
            <pc:sldMk cId="3021931668" sldId="341"/>
            <ac:spMk id="4" creationId="{00000000-0000-0000-0000-000000000000}"/>
          </ac:spMkLst>
        </pc:spChg>
        <pc:picChg chg="del">
          <ac:chgData name="WARNER BREZOLIN" userId="5965b03a-a112-4328-8103-b970c0ab26ec" providerId="ADAL" clId="{A812C64B-742C-4037-99F4-2D9069A009A0}" dt="2022-08-17T10:51:43.507" v="17" actId="478"/>
          <ac:picMkLst>
            <pc:docMk/>
            <pc:sldMk cId="3021931668" sldId="341"/>
            <ac:picMk id="7" creationId="{00000000-0000-0000-0000-000000000000}"/>
          </ac:picMkLst>
        </pc:picChg>
      </pc:sldChg>
      <pc:sldChg chg="add">
        <pc:chgData name="WARNER BREZOLIN" userId="5965b03a-a112-4328-8103-b970c0ab26ec" providerId="ADAL" clId="{A812C64B-742C-4037-99F4-2D9069A009A0}" dt="2022-08-17T10:50:53.570" v="0"/>
        <pc:sldMkLst>
          <pc:docMk/>
          <pc:sldMk cId="3651929945" sldId="366"/>
        </pc:sldMkLst>
      </pc:sldChg>
    </pc:docChg>
  </pc:docChgLst>
  <pc:docChgLst>
    <pc:chgData name="WARNER BREZOLIN" userId="5965b03a-a112-4328-8103-b970c0ab26ec" providerId="ADAL" clId="{26D8F090-95F5-41BC-BED5-7B702B45E3F0}"/>
    <pc:docChg chg="delSld">
      <pc:chgData name="WARNER BREZOLIN" userId="5965b03a-a112-4328-8103-b970c0ab26ec" providerId="ADAL" clId="{26D8F090-95F5-41BC-BED5-7B702B45E3F0}" dt="2023-02-23T12:01:52.564" v="0" actId="47"/>
      <pc:docMkLst>
        <pc:docMk/>
      </pc:docMkLst>
      <pc:sldChg chg="del">
        <pc:chgData name="WARNER BREZOLIN" userId="5965b03a-a112-4328-8103-b970c0ab26ec" providerId="ADAL" clId="{26D8F090-95F5-41BC-BED5-7B702B45E3F0}" dt="2023-02-23T12:01:52.564" v="0" actId="47"/>
        <pc:sldMkLst>
          <pc:docMk/>
          <pc:sldMk cId="3651929945" sldId="366"/>
        </pc:sldMkLst>
      </pc:sldChg>
    </pc:docChg>
  </pc:docChgLst>
  <pc:docChgLst>
    <pc:chgData name="WARNER BREZOLIN" userId="5965b03a-a112-4328-8103-b970c0ab26ec" providerId="ADAL" clId="{7CB629DC-9C1F-4C02-BC1A-50939C64D642}"/>
    <pc:docChg chg="addSld delSld modSld">
      <pc:chgData name="WARNER BREZOLIN" userId="5965b03a-a112-4328-8103-b970c0ab26ec" providerId="ADAL" clId="{7CB629DC-9C1F-4C02-BC1A-50939C64D642}" dt="2024-02-26T11:08:39.746" v="1" actId="47"/>
      <pc:docMkLst>
        <pc:docMk/>
      </pc:docMkLst>
      <pc:sldChg chg="add">
        <pc:chgData name="WARNER BREZOLIN" userId="5965b03a-a112-4328-8103-b970c0ab26ec" providerId="ADAL" clId="{7CB629DC-9C1F-4C02-BC1A-50939C64D642}" dt="2024-02-26T11:08:24.219" v="0"/>
        <pc:sldMkLst>
          <pc:docMk/>
          <pc:sldMk cId="3651929945" sldId="366"/>
        </pc:sldMkLst>
      </pc:sldChg>
      <pc:sldChg chg="add">
        <pc:chgData name="WARNER BREZOLIN" userId="5965b03a-a112-4328-8103-b970c0ab26ec" providerId="ADAL" clId="{7CB629DC-9C1F-4C02-BC1A-50939C64D642}" dt="2024-02-26T11:08:24.219" v="0"/>
        <pc:sldMkLst>
          <pc:docMk/>
          <pc:sldMk cId="602419825" sldId="428"/>
        </pc:sldMkLst>
      </pc:sldChg>
      <pc:sldChg chg="del">
        <pc:chgData name="WARNER BREZOLIN" userId="5965b03a-a112-4328-8103-b970c0ab26ec" providerId="ADAL" clId="{7CB629DC-9C1F-4C02-BC1A-50939C64D642}" dt="2024-02-26T11:08:39.746" v="1" actId="47"/>
        <pc:sldMkLst>
          <pc:docMk/>
          <pc:sldMk cId="3843843394" sldId="4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4A04-21C9-49CB-8065-F35E7AEFBFBC}" type="datetimeFigureOut">
              <a:rPr lang="pt-BR" smtClean="0"/>
              <a:t>26/02/2024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CC81-3FE2-46B3-928E-DB46E27C17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4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457200">
              <a:buNone/>
            </a:pPr>
            <a:fld id="{5257B995-136A-4A15-87A5-26420C3C1021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pt-BR" smtClean="0"/>
              <a:t>26/02/2024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pt-BR" smtClean="0"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76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315404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189"/>
            <a:ext cx="5658484" cy="421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/>
          <a:lstStyle/>
          <a:p>
            <a:pPr algn="l" defTabSz="45720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Century Gothic"/>
              </a:rPr>
              <a:t>BANCO de dados</a:t>
            </a:r>
            <a:br>
              <a:rPr lang="pt-BR" dirty="0">
                <a:solidFill>
                  <a:schemeClr val="tx1"/>
                </a:solidFill>
                <a:latin typeface="Century Gothic"/>
              </a:rPr>
            </a:br>
            <a:r>
              <a:rPr lang="pt-BR" sz="2800" b="1" dirty="0">
                <a:solidFill>
                  <a:srgbClr val="FF0000"/>
                </a:solidFill>
                <a:latin typeface="Century Gothic"/>
              </a:rPr>
              <a:t>Modelo Entidade e Relacionamento - CARDINALIDADE</a:t>
            </a:r>
            <a:endParaRPr lang="pt-BR" sz="2800" b="1" i="0" dirty="0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5" name="Retângulo 4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/>
          <a:p>
            <a:pPr marL="0" indent="0" algn="l">
              <a:buNone/>
            </a:pPr>
            <a:r>
              <a:rPr lang="pt-BR" b="0" i="0" dirty="0">
                <a:solidFill>
                  <a:schemeClr val="tx1"/>
                </a:solidFill>
              </a:rPr>
              <a:t>Prof. Me. Warner </a:t>
            </a:r>
            <a:r>
              <a:rPr lang="pt-BR" b="0" i="0" dirty="0" err="1">
                <a:solidFill>
                  <a:schemeClr val="tx1"/>
                </a:solidFill>
              </a:rPr>
              <a:t>Brezolin</a:t>
            </a:r>
            <a:endParaRPr lang="pt-BR" b="0" i="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pt-BR" dirty="0">
                <a:solidFill>
                  <a:schemeClr val="tx1"/>
                </a:solidFill>
              </a:rPr>
              <a:t>wbrezolin@gmail.com</a:t>
            </a:r>
            <a:endParaRPr lang="pt-BR" b="0" i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93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Relacionamento</a:t>
            </a:r>
          </a:p>
        </p:txBody>
      </p:sp>
      <p:sp>
        <p:nvSpPr>
          <p:cNvPr id="4" name="Retângulo 3"/>
          <p:cNvSpPr/>
          <p:nvPr/>
        </p:nvSpPr>
        <p:spPr>
          <a:xfrm>
            <a:off x="916938" y="1452963"/>
            <a:ext cx="1056176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/>
              <a:t>Representam um conjunto de  conexões entre as entidades e é representado por um losango</a:t>
            </a:r>
          </a:p>
          <a:p>
            <a:endParaRPr lang="pt-BR" sz="3200" dirty="0"/>
          </a:p>
          <a:p>
            <a:r>
              <a:rPr lang="pt-BR" sz="3200" dirty="0"/>
              <a:t>Em outras palavras: representam as associações entre duas ou mais entidades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20" y="4061180"/>
            <a:ext cx="6635604" cy="103902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048000" y="5410200"/>
            <a:ext cx="1203620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Warner</a:t>
            </a:r>
          </a:p>
          <a:p>
            <a:pPr algn="ctr"/>
            <a:r>
              <a:rPr lang="pt-BR" dirty="0"/>
              <a:t>Ligia</a:t>
            </a:r>
          </a:p>
          <a:p>
            <a:pPr algn="ctr"/>
            <a:r>
              <a:rPr lang="pt-BR" dirty="0"/>
              <a:t>Ana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915424" y="5548699"/>
            <a:ext cx="1600200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Computação</a:t>
            </a:r>
          </a:p>
          <a:p>
            <a:pPr algn="ctr"/>
            <a:r>
              <a:rPr lang="pt-BR" dirty="0" err="1"/>
              <a:t>Odonto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5596012" y="5410200"/>
            <a:ext cx="1203620" cy="92333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4038600" y="5613754"/>
            <a:ext cx="3962400" cy="9275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4038600" y="5715000"/>
            <a:ext cx="3962400" cy="15686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V="1">
            <a:off x="4038600" y="6026861"/>
            <a:ext cx="4191000" cy="1498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6" idx="0"/>
          </p:cNvCxnSpPr>
          <p:nvPr/>
        </p:nvCxnSpPr>
        <p:spPr>
          <a:xfrm flipV="1">
            <a:off x="3649810" y="4953000"/>
            <a:ext cx="0" cy="4572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7" idx="0"/>
          </p:cNvCxnSpPr>
          <p:nvPr/>
        </p:nvCxnSpPr>
        <p:spPr>
          <a:xfrm flipV="1">
            <a:off x="8715524" y="4987325"/>
            <a:ext cx="0" cy="5613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8" idx="0"/>
            <a:endCxn id="5" idx="2"/>
          </p:cNvCxnSpPr>
          <p:nvPr/>
        </p:nvCxnSpPr>
        <p:spPr>
          <a:xfrm flipV="1">
            <a:off x="6197822" y="5100207"/>
            <a:ext cx="0" cy="3099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47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Grau de Relacionamento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916938" y="1810714"/>
            <a:ext cx="464566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kern="0" spc="-130" dirty="0"/>
              <a:t>Unário ou </a:t>
            </a:r>
            <a:r>
              <a:rPr lang="pt-BR" sz="2800" kern="0" spc="-130" dirty="0" err="1"/>
              <a:t>Auto-Relacionamento</a:t>
            </a:r>
            <a:endParaRPr lang="pt-BR" sz="2800" kern="0" spc="-130" dirty="0"/>
          </a:p>
          <a:p>
            <a:endParaRPr lang="pt-BR" sz="2800" b="1" kern="0" spc="-130" dirty="0"/>
          </a:p>
          <a:p>
            <a:r>
              <a:rPr lang="pt-BR" sz="2400" dirty="0"/>
              <a:t>representa uma associação entre ocorrências de uma mesma entidade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6821169" y="1810714"/>
            <a:ext cx="46456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kern="0" spc="-130" dirty="0"/>
              <a:t>Binário</a:t>
            </a:r>
          </a:p>
          <a:p>
            <a:endParaRPr lang="pt-BR" sz="2800" b="1" kern="0" spc="-130" dirty="0"/>
          </a:p>
          <a:p>
            <a:r>
              <a:rPr lang="pt-BR" sz="2400" dirty="0"/>
              <a:t>existe o relacionamento entre apenas duas  entidades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837" y="4753821"/>
            <a:ext cx="4886325" cy="86677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106" y="4474777"/>
            <a:ext cx="4042094" cy="132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5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Grau de Relacionamento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3352800" y="1981200"/>
            <a:ext cx="46456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kern="0" spc="-130" dirty="0"/>
              <a:t>Ternário ou “</a:t>
            </a:r>
            <a:r>
              <a:rPr lang="pt-BR" sz="2800" kern="0" spc="-130" dirty="0" err="1"/>
              <a:t>N”-ário</a:t>
            </a:r>
            <a:endParaRPr lang="pt-BR" sz="2800" kern="0" spc="-130" dirty="0"/>
          </a:p>
          <a:p>
            <a:endParaRPr lang="pt-BR" sz="2800" b="1" kern="0" spc="-130" dirty="0"/>
          </a:p>
          <a:p>
            <a:r>
              <a:rPr lang="pt-BR" sz="2400" dirty="0"/>
              <a:t>abstração de uma associação entre “N” ocorrências de entidades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334" y="4038600"/>
            <a:ext cx="6023064" cy="21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6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Atributos de Relacionamento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1020417" y="1828800"/>
            <a:ext cx="10515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kern="0" spc="-130" dirty="0"/>
              <a:t>Os relacionamentos também podem possuir atributos, idêntico ao que acontece nas entidades.</a:t>
            </a:r>
          </a:p>
          <a:p>
            <a:endParaRPr lang="pt-BR" sz="2800" kern="0" spc="-130" dirty="0"/>
          </a:p>
          <a:p>
            <a:r>
              <a:rPr lang="pt-BR" sz="2800" kern="0" spc="-130" dirty="0"/>
              <a:t>Isso ocorre quando a cardinalidade do relacionamento é N para N.</a:t>
            </a:r>
            <a:endParaRPr lang="pt-BR" sz="2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427" y="4204010"/>
            <a:ext cx="5979145" cy="190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5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Cardinalidade de Relacionamento</a:t>
            </a:r>
          </a:p>
        </p:txBody>
      </p:sp>
      <p:sp>
        <p:nvSpPr>
          <p:cNvPr id="7" name="Retângulo 6"/>
          <p:cNvSpPr/>
          <p:nvPr/>
        </p:nvSpPr>
        <p:spPr>
          <a:xfrm>
            <a:off x="1066800" y="2133600"/>
            <a:ext cx="10210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/>
              <a:t>Cardinalidade Máxima (1 ou N) </a:t>
            </a:r>
            <a:r>
              <a:rPr lang="pt-BR" sz="2800" dirty="0"/>
              <a:t>- representa a quantidade máxima de ocorrências de uma entidade, que pode estar associada a uma  mesma ocorrência da outra entidade.</a:t>
            </a:r>
          </a:p>
          <a:p>
            <a:endParaRPr lang="pt-BR" sz="2800" dirty="0"/>
          </a:p>
          <a:p>
            <a:r>
              <a:rPr lang="pt-BR" sz="2800" b="1" dirty="0"/>
              <a:t>Cardinalidade Mínima (0 ou 1) </a:t>
            </a:r>
            <a:r>
              <a:rPr lang="pt-BR" sz="2800" dirty="0"/>
              <a:t>- indica se a participação de TODAS as ocorrências de uma entidade em um determinado relacionamento é  obrigatória (1) ou opcional (0).</a:t>
            </a:r>
          </a:p>
        </p:txBody>
      </p:sp>
    </p:spTree>
    <p:extLst>
      <p:ext uri="{BB962C8B-B14F-4D97-AF65-F5344CB8AC3E}">
        <p14:creationId xmlns:p14="http://schemas.microsoft.com/office/powerpoint/2010/main" val="36826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Cardinalidade de Relacionamento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1066800" y="2423531"/>
            <a:ext cx="9525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É o número máximo e mínimo de ocorrências de uma entidade que estão associadas às ocorrências de outra entidade que participa do relacionamento.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1066800" y="4145779"/>
            <a:ext cx="89537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Identifica a quantidade de vezes que cada instância de uma entidade pode participar do relacionamento.</a:t>
            </a:r>
          </a:p>
          <a:p>
            <a:pPr lvl="2"/>
            <a:r>
              <a:rPr lang="pt-BR" sz="2800" dirty="0"/>
              <a:t>1:1</a:t>
            </a:r>
          </a:p>
          <a:p>
            <a:pPr lvl="2"/>
            <a:r>
              <a:rPr lang="pt-BR" sz="2800" dirty="0"/>
              <a:t>1:N</a:t>
            </a:r>
          </a:p>
          <a:p>
            <a:pPr lvl="2"/>
            <a:r>
              <a:rPr lang="pt-BR" sz="2800" dirty="0"/>
              <a:t>N:N</a:t>
            </a:r>
          </a:p>
          <a:p>
            <a:pPr lvl="2"/>
            <a:r>
              <a:rPr lang="pt-BR" sz="2800" dirty="0"/>
              <a:t>N:1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1164209" y="1672143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Cardinalidade Máxima</a:t>
            </a:r>
          </a:p>
        </p:txBody>
      </p:sp>
    </p:spTree>
    <p:extLst>
      <p:ext uri="{BB962C8B-B14F-4D97-AF65-F5344CB8AC3E}">
        <p14:creationId xmlns:p14="http://schemas.microsoft.com/office/powerpoint/2010/main" val="347014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Cardinalidade de Relacionamento</a:t>
            </a:r>
          </a:p>
        </p:txBody>
      </p:sp>
      <p:sp>
        <p:nvSpPr>
          <p:cNvPr id="15" name="object 2"/>
          <p:cNvSpPr txBox="1">
            <a:spLocks/>
          </p:cNvSpPr>
          <p:nvPr/>
        </p:nvSpPr>
        <p:spPr>
          <a:xfrm>
            <a:off x="1171279" y="2162175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Relacionamento – 1:1</a:t>
            </a: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871" y="3279732"/>
            <a:ext cx="5943600" cy="956044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724400"/>
            <a:ext cx="5181600" cy="962025"/>
          </a:xfrm>
          <a:prstGeom prst="rect">
            <a:avLst/>
          </a:prstGeom>
        </p:spPr>
      </p:pic>
      <p:cxnSp>
        <p:nvCxnSpPr>
          <p:cNvPr id="19" name="Conector de Seta Reta 18"/>
          <p:cNvCxnSpPr/>
          <p:nvPr/>
        </p:nvCxnSpPr>
        <p:spPr>
          <a:xfrm flipH="1">
            <a:off x="5105400" y="4572000"/>
            <a:ext cx="38100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7315200" y="4585355"/>
            <a:ext cx="38100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object 2"/>
          <p:cNvSpPr txBox="1">
            <a:spLocks/>
          </p:cNvSpPr>
          <p:nvPr/>
        </p:nvSpPr>
        <p:spPr>
          <a:xfrm>
            <a:off x="1171279" y="1518305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Cardinalidade Máxima</a:t>
            </a:r>
          </a:p>
        </p:txBody>
      </p:sp>
    </p:spTree>
    <p:extLst>
      <p:ext uri="{BB962C8B-B14F-4D97-AF65-F5344CB8AC3E}">
        <p14:creationId xmlns:p14="http://schemas.microsoft.com/office/powerpoint/2010/main" val="94567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Cardinalidade de Relacionamento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9" y="3246159"/>
            <a:ext cx="4943475" cy="8191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737" y="4800600"/>
            <a:ext cx="5181600" cy="914400"/>
          </a:xfrm>
          <a:prstGeom prst="rect">
            <a:avLst/>
          </a:prstGeom>
        </p:spPr>
      </p:pic>
      <p:cxnSp>
        <p:nvCxnSpPr>
          <p:cNvPr id="8" name="Conector de Seta Reta 7"/>
          <p:cNvCxnSpPr/>
          <p:nvPr/>
        </p:nvCxnSpPr>
        <p:spPr>
          <a:xfrm flipH="1">
            <a:off x="7391400" y="4648200"/>
            <a:ext cx="38100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H="1">
            <a:off x="5239640" y="4650557"/>
            <a:ext cx="38100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bject 2"/>
          <p:cNvSpPr txBox="1">
            <a:spLocks/>
          </p:cNvSpPr>
          <p:nvPr/>
        </p:nvSpPr>
        <p:spPr>
          <a:xfrm>
            <a:off x="1171279" y="2162175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Relacionamento – 1:N</a:t>
            </a:r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1171279" y="1518305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Cardinalidade Máxima</a:t>
            </a:r>
          </a:p>
        </p:txBody>
      </p:sp>
    </p:spTree>
    <p:extLst>
      <p:ext uri="{BB962C8B-B14F-4D97-AF65-F5344CB8AC3E}">
        <p14:creationId xmlns:p14="http://schemas.microsoft.com/office/powerpoint/2010/main" val="1419627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Cardinalidade de Relacionamento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97" y="3152775"/>
            <a:ext cx="4867275" cy="84772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48" y="4724400"/>
            <a:ext cx="5133975" cy="876300"/>
          </a:xfrm>
          <a:prstGeom prst="rect">
            <a:avLst/>
          </a:prstGeom>
        </p:spPr>
      </p:pic>
      <p:cxnSp>
        <p:nvCxnSpPr>
          <p:cNvPr id="8" name="Conector de Seta Reta 7"/>
          <p:cNvCxnSpPr/>
          <p:nvPr/>
        </p:nvCxnSpPr>
        <p:spPr>
          <a:xfrm flipH="1">
            <a:off x="7391400" y="4572000"/>
            <a:ext cx="38100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H="1">
            <a:off x="5239640" y="4572000"/>
            <a:ext cx="38100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bject 2"/>
          <p:cNvSpPr txBox="1">
            <a:spLocks/>
          </p:cNvSpPr>
          <p:nvPr/>
        </p:nvSpPr>
        <p:spPr>
          <a:xfrm>
            <a:off x="1171279" y="2162175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Relacionamento – N:N</a:t>
            </a:r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1171279" y="1518305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Cardinalidade Máxima</a:t>
            </a:r>
          </a:p>
        </p:txBody>
      </p:sp>
    </p:spTree>
    <p:extLst>
      <p:ext uri="{BB962C8B-B14F-4D97-AF65-F5344CB8AC3E}">
        <p14:creationId xmlns:p14="http://schemas.microsoft.com/office/powerpoint/2010/main" val="133011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Cardinalidade de Relacionamento</a:t>
            </a:r>
          </a:p>
        </p:txBody>
      </p:sp>
      <p:sp>
        <p:nvSpPr>
          <p:cNvPr id="17" name="object 2"/>
          <p:cNvSpPr txBox="1">
            <a:spLocks/>
          </p:cNvSpPr>
          <p:nvPr/>
        </p:nvSpPr>
        <p:spPr>
          <a:xfrm>
            <a:off x="1164209" y="1672143"/>
            <a:ext cx="89128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3200" kern="0" spc="-130" dirty="0"/>
              <a:t>Cardinalidade Mínima 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164209" y="2427456"/>
            <a:ext cx="1018674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É o número mínimo de ocorrências de entidade que são associadas a uma ocorrência de uma  entidade através de um relacionamento.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sz="2400" dirty="0"/>
              <a:t>Cardinalidade mínima 0 (associação opcional)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sz="2400" dirty="0"/>
              <a:t>Cardinalidade mínima 1 (associação  obrigatória)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69" y="5181600"/>
            <a:ext cx="5153025" cy="895350"/>
          </a:xfrm>
          <a:prstGeom prst="rect">
            <a:avLst/>
          </a:prstGeom>
        </p:spPr>
      </p:pic>
      <p:cxnSp>
        <p:nvCxnSpPr>
          <p:cNvPr id="20" name="Conector de Seta Reta 19"/>
          <p:cNvCxnSpPr/>
          <p:nvPr/>
        </p:nvCxnSpPr>
        <p:spPr>
          <a:xfrm flipH="1">
            <a:off x="7315200" y="5049611"/>
            <a:ext cx="381000" cy="457200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H="1">
            <a:off x="5117135" y="5049611"/>
            <a:ext cx="381000" cy="457200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16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Entidade Fraca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916938" y="1687525"/>
            <a:ext cx="1018674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São entidades dependentes da existência ou da identificação de uma outra entidade. É uma classe de restrição.</a:t>
            </a:r>
          </a:p>
          <a:p>
            <a:endParaRPr lang="pt-BR" sz="2800" dirty="0"/>
          </a:p>
          <a:p>
            <a:r>
              <a:rPr lang="pt-BR" sz="2800" dirty="0"/>
              <a:t>Dependem de uma “entidade forte”</a:t>
            </a:r>
          </a:p>
          <a:p>
            <a:endParaRPr lang="pt-BR" sz="2800" dirty="0"/>
          </a:p>
          <a:p>
            <a:r>
              <a:rPr lang="pt-BR" sz="2800" dirty="0"/>
              <a:t>A Entidade Fraca é representada por:</a:t>
            </a:r>
          </a:p>
          <a:p>
            <a:endParaRPr lang="pt-BR" sz="28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055738"/>
            <a:ext cx="1943100" cy="98107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29200"/>
            <a:ext cx="6074145" cy="10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3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Generalização / Especialização</a:t>
            </a:r>
          </a:p>
        </p:txBody>
      </p:sp>
      <p:sp>
        <p:nvSpPr>
          <p:cNvPr id="8" name="Retângulo 7"/>
          <p:cNvSpPr/>
          <p:nvPr/>
        </p:nvSpPr>
        <p:spPr>
          <a:xfrm>
            <a:off x="916938" y="1524000"/>
            <a:ext cx="101867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Atribui propriedades particulares a um subconjunto de ocorrências de uma entidade qualquer.</a:t>
            </a:r>
          </a:p>
          <a:p>
            <a:endParaRPr lang="pt-BR" sz="2400" dirty="0"/>
          </a:p>
          <a:p>
            <a:r>
              <a:rPr lang="pt-BR" sz="2400" dirty="0"/>
              <a:t>Também chamado de subtipo, generalização/especialização permite que uma entidade se diferencie em vários tipos: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048" y="3752871"/>
            <a:ext cx="42005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87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Generalização / Especialização</a:t>
            </a:r>
          </a:p>
        </p:txBody>
      </p:sp>
      <p:sp>
        <p:nvSpPr>
          <p:cNvPr id="8" name="Retângulo 7"/>
          <p:cNvSpPr/>
          <p:nvPr/>
        </p:nvSpPr>
        <p:spPr>
          <a:xfrm>
            <a:off x="916938" y="1524000"/>
            <a:ext cx="101867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Generalização: </a:t>
            </a:r>
            <a:r>
              <a:rPr lang="pt-BR" sz="2400" dirty="0"/>
              <a:t>conjunto de entidades vistos como um conjunto de entidade genérico</a:t>
            </a:r>
          </a:p>
          <a:p>
            <a:endParaRPr lang="pt-BR" sz="2400" dirty="0"/>
          </a:p>
          <a:p>
            <a:r>
              <a:rPr lang="pt-BR" sz="2400" b="1" dirty="0"/>
              <a:t>Especialização: </a:t>
            </a:r>
            <a:r>
              <a:rPr lang="pt-BR" sz="2400" dirty="0"/>
              <a:t>algumas entidades possuem propriedades adicionais, sendo especializadas em outro conjunto de entidades (herança de propriedades)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569166"/>
            <a:ext cx="6858000" cy="325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9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Generalização / Especialização</a:t>
            </a:r>
          </a:p>
        </p:txBody>
      </p:sp>
      <p:sp>
        <p:nvSpPr>
          <p:cNvPr id="8" name="Retângulo 7"/>
          <p:cNvSpPr/>
          <p:nvPr/>
        </p:nvSpPr>
        <p:spPr>
          <a:xfrm>
            <a:off x="916938" y="1676400"/>
            <a:ext cx="1018674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/>
              <a:t>Classificação</a:t>
            </a:r>
          </a:p>
          <a:p>
            <a:endParaRPr lang="pt-BR" sz="2400" dirty="0"/>
          </a:p>
          <a:p>
            <a:pPr lvl="1"/>
            <a:r>
              <a:rPr lang="pt-BR" sz="2400" b="1" dirty="0"/>
              <a:t>Total (T)</a:t>
            </a:r>
          </a:p>
          <a:p>
            <a:pPr lvl="1"/>
            <a:r>
              <a:rPr lang="pt-BR" sz="2400" dirty="0"/>
              <a:t>Para cada ocorrência da entidade genérica existe sempre uma ocorrência em uma das entidades especializadas.</a:t>
            </a:r>
          </a:p>
          <a:p>
            <a:pPr lvl="1"/>
            <a:endParaRPr lang="pt-BR" sz="2400" dirty="0"/>
          </a:p>
          <a:p>
            <a:pPr lvl="1"/>
            <a:r>
              <a:rPr lang="pt-BR" sz="2400" b="1" dirty="0"/>
              <a:t>Parcial (P)</a:t>
            </a:r>
          </a:p>
          <a:p>
            <a:pPr lvl="1"/>
            <a:r>
              <a:rPr lang="pt-BR" sz="2400" dirty="0"/>
              <a:t>Nem toda ocorrência da entidade genérica possui uma ocorrência correspondente em uma entidade especializada.</a:t>
            </a:r>
          </a:p>
        </p:txBody>
      </p:sp>
    </p:spTree>
    <p:extLst>
      <p:ext uri="{BB962C8B-B14F-4D97-AF65-F5344CB8AC3E}">
        <p14:creationId xmlns:p14="http://schemas.microsoft.com/office/powerpoint/2010/main" val="620590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Generalização / Especialização</a:t>
            </a:r>
          </a:p>
        </p:txBody>
      </p:sp>
      <p:sp>
        <p:nvSpPr>
          <p:cNvPr id="8" name="Retângulo 7"/>
          <p:cNvSpPr/>
          <p:nvPr/>
        </p:nvSpPr>
        <p:spPr>
          <a:xfrm>
            <a:off x="916938" y="1676400"/>
            <a:ext cx="101867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/>
              <a:t>Total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3886200" y="2895600"/>
            <a:ext cx="4905375" cy="3600450"/>
            <a:chOff x="3557623" y="2514600"/>
            <a:chExt cx="4905375" cy="3600450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7623" y="2514600"/>
              <a:ext cx="4905375" cy="3600450"/>
            </a:xfrm>
            <a:prstGeom prst="rect">
              <a:avLst/>
            </a:prstGeom>
          </p:spPr>
        </p:pic>
        <p:sp>
          <p:nvSpPr>
            <p:cNvPr id="3" name="Retângulo 2"/>
            <p:cNvSpPr/>
            <p:nvPr/>
          </p:nvSpPr>
          <p:spPr>
            <a:xfrm>
              <a:off x="5861872" y="3733800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T</a:t>
              </a:r>
            </a:p>
          </p:txBody>
        </p:sp>
      </p:grpSp>
      <p:grpSp>
        <p:nvGrpSpPr>
          <p:cNvPr id="13" name="Agrupar 12"/>
          <p:cNvGrpSpPr/>
          <p:nvPr/>
        </p:nvGrpSpPr>
        <p:grpSpPr>
          <a:xfrm>
            <a:off x="3048000" y="2326069"/>
            <a:ext cx="1828800" cy="1307661"/>
            <a:chOff x="2514600" y="1828800"/>
            <a:chExt cx="1828800" cy="1307661"/>
          </a:xfrm>
        </p:grpSpPr>
        <p:sp>
          <p:nvSpPr>
            <p:cNvPr id="5" name="Texto Explicativo 3 4"/>
            <p:cNvSpPr/>
            <p:nvPr/>
          </p:nvSpPr>
          <p:spPr>
            <a:xfrm>
              <a:off x="2514600" y="1828800"/>
              <a:ext cx="1828800" cy="1307661"/>
            </a:xfrm>
            <a:prstGeom prst="borderCallout3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41612"/>
                <a:gd name="adj6" fmla="val -12131"/>
                <a:gd name="adj7" fmla="val 156825"/>
                <a:gd name="adj8" fmla="val 145482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2590800" y="1905000"/>
              <a:ext cx="17526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/>
                <a:t>Indica que toda  pessoa é, ou  </a:t>
              </a:r>
              <a:r>
                <a:rPr lang="pt-BR" b="1" dirty="0"/>
                <a:t>Pessoa Física</a:t>
              </a:r>
              <a:r>
                <a:rPr lang="pt-BR" dirty="0"/>
                <a:t> ou  </a:t>
              </a:r>
              <a:r>
                <a:rPr lang="pt-BR" b="1" dirty="0"/>
                <a:t>Pessoa Jurídica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5530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/>
          <p:cNvGrpSpPr/>
          <p:nvPr/>
        </p:nvGrpSpPr>
        <p:grpSpPr>
          <a:xfrm>
            <a:off x="4495800" y="3048000"/>
            <a:ext cx="4229100" cy="3257550"/>
            <a:chOff x="6844728" y="3032285"/>
            <a:chExt cx="4229100" cy="3257550"/>
          </a:xfrm>
        </p:grpSpPr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4728" y="3032285"/>
              <a:ext cx="4229100" cy="3257550"/>
            </a:xfrm>
            <a:prstGeom prst="rect">
              <a:avLst/>
            </a:prstGeom>
          </p:spPr>
        </p:pic>
        <p:sp>
          <p:nvSpPr>
            <p:cNvPr id="9" name="Retângulo 8"/>
            <p:cNvSpPr/>
            <p:nvPr/>
          </p:nvSpPr>
          <p:spPr>
            <a:xfrm>
              <a:off x="9144000" y="4114800"/>
              <a:ext cx="3032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P</a:t>
              </a:r>
            </a:p>
          </p:txBody>
        </p:sp>
      </p:grpSp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Generalização / Especialização</a:t>
            </a:r>
          </a:p>
        </p:txBody>
      </p:sp>
      <p:sp>
        <p:nvSpPr>
          <p:cNvPr id="8" name="Retângulo 7"/>
          <p:cNvSpPr/>
          <p:nvPr/>
        </p:nvSpPr>
        <p:spPr>
          <a:xfrm>
            <a:off x="916938" y="1676400"/>
            <a:ext cx="101867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/>
              <a:t>Parcial</a:t>
            </a:r>
          </a:p>
        </p:txBody>
      </p:sp>
      <p:grpSp>
        <p:nvGrpSpPr>
          <p:cNvPr id="13" name="Agrupar 12"/>
          <p:cNvGrpSpPr/>
          <p:nvPr/>
        </p:nvGrpSpPr>
        <p:grpSpPr>
          <a:xfrm>
            <a:off x="2514599" y="2568823"/>
            <a:ext cx="3200400" cy="2645008"/>
            <a:chOff x="2775857" y="1949787"/>
            <a:chExt cx="1828800" cy="2645008"/>
          </a:xfrm>
        </p:grpSpPr>
        <p:sp>
          <p:nvSpPr>
            <p:cNvPr id="5" name="Texto Explicativo 3 4"/>
            <p:cNvSpPr/>
            <p:nvPr/>
          </p:nvSpPr>
          <p:spPr>
            <a:xfrm>
              <a:off x="2775857" y="1949787"/>
              <a:ext cx="1828800" cy="1307661"/>
            </a:xfrm>
            <a:prstGeom prst="borderCallout3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41612"/>
                <a:gd name="adj6" fmla="val -12131"/>
                <a:gd name="adj7" fmla="val 146732"/>
                <a:gd name="adj8" fmla="val 122213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2852057" y="2009472"/>
              <a:ext cx="1752600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/>
                <a:t>Indica que o  Funcionário é  Médico ou Engenheiro. Porém existem outros  funcionários com cargos distintos.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16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Entidade Associativa</a:t>
            </a:r>
          </a:p>
        </p:txBody>
      </p:sp>
      <p:sp>
        <p:nvSpPr>
          <p:cNvPr id="2" name="Retângulo 1"/>
          <p:cNvSpPr/>
          <p:nvPr/>
        </p:nvSpPr>
        <p:spPr>
          <a:xfrm>
            <a:off x="916938" y="1524000"/>
            <a:ext cx="997966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Em um processo de modelagem de um diagrama E-R, será necessário em algumas ocasiões associar uma entidade a um relacionamento. Porém, não se pode pela regra de associação de diagrama E-R associar um relacionamento a outro.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3594410"/>
            <a:ext cx="5326834" cy="2977564"/>
          </a:xfrm>
          <a:prstGeom prst="rect">
            <a:avLst/>
          </a:prstGeom>
        </p:spPr>
      </p:pic>
      <p:pic>
        <p:nvPicPr>
          <p:cNvPr id="1028" name="Picture 4" descr="❌ Xis Emo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280210"/>
            <a:ext cx="533400" cy="533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266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Entidade Associativa</a:t>
            </a:r>
          </a:p>
        </p:txBody>
      </p:sp>
      <p:sp>
        <p:nvSpPr>
          <p:cNvPr id="2" name="Retângulo 1"/>
          <p:cNvSpPr/>
          <p:nvPr/>
        </p:nvSpPr>
        <p:spPr>
          <a:xfrm>
            <a:off x="916938" y="1524000"/>
            <a:ext cx="99796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Entidade X Entidade Associativa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356" y="2306461"/>
            <a:ext cx="76676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4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Entidade Associativa</a:t>
            </a:r>
          </a:p>
        </p:txBody>
      </p:sp>
      <p:sp>
        <p:nvSpPr>
          <p:cNvPr id="2" name="Retângulo 1"/>
          <p:cNvSpPr/>
          <p:nvPr/>
        </p:nvSpPr>
        <p:spPr>
          <a:xfrm>
            <a:off x="916938" y="1524000"/>
            <a:ext cx="997966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Entidade Associativa X Relacionamento </a:t>
            </a:r>
            <a:r>
              <a:rPr lang="pt-BR" sz="2800" dirty="0" err="1"/>
              <a:t>N-Ário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A opção por relacionamento </a:t>
            </a:r>
            <a:r>
              <a:rPr lang="pt-BR" sz="2800" dirty="0" err="1"/>
              <a:t>n-ário</a:t>
            </a:r>
            <a:r>
              <a:rPr lang="pt-BR" sz="2800" dirty="0"/>
              <a:t> é recomendada apenas se a participação for obrigatória para todas as entidades.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19" y="3594410"/>
            <a:ext cx="7658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49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916938" y="609676"/>
            <a:ext cx="1104646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spc="-130" dirty="0"/>
              <a:t>Entidade – Exercício </a:t>
            </a:r>
          </a:p>
        </p:txBody>
      </p:sp>
      <p:sp>
        <p:nvSpPr>
          <p:cNvPr id="6" name="Retângulo 5"/>
          <p:cNvSpPr/>
          <p:nvPr/>
        </p:nvSpPr>
        <p:spPr>
          <a:xfrm>
            <a:off x="916938" y="1828800"/>
            <a:ext cx="10210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Desenvolva o modelo conceitual para um </a:t>
            </a:r>
            <a:r>
              <a:rPr lang="pt-BR" sz="2800"/>
              <a:t>sistema qualquer.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O Modelo deve considerar:</a:t>
            </a:r>
          </a:p>
          <a:p>
            <a:endParaRPr lang="pt-BR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2800" dirty="0"/>
              <a:t>Mínimo de 20 entidades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2800" dirty="0"/>
              <a:t>Cada Entidade deverá possuir, um mínimo de 5 atributos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2800" dirty="0"/>
              <a:t>As entidades devem estar relacionadas entre si.</a:t>
            </a:r>
          </a:p>
        </p:txBody>
      </p:sp>
    </p:spTree>
    <p:extLst>
      <p:ext uri="{BB962C8B-B14F-4D97-AF65-F5344CB8AC3E}">
        <p14:creationId xmlns:p14="http://schemas.microsoft.com/office/powerpoint/2010/main" val="3651929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EB6CF-1F71-0C22-EAEE-C9EC04A0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Temas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3DDEEE-29C1-911B-8DD4-1938D9095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793189"/>
            <a:ext cx="5658484" cy="2154436"/>
          </a:xfrm>
        </p:spPr>
        <p:txBody>
          <a:bodyPr/>
          <a:lstStyle/>
          <a:p>
            <a:r>
              <a:rPr lang="pt-BR" dirty="0"/>
              <a:t>- Loja Física</a:t>
            </a:r>
          </a:p>
          <a:p>
            <a:r>
              <a:rPr lang="pt-BR" dirty="0"/>
              <a:t>- Supermercado</a:t>
            </a:r>
          </a:p>
          <a:p>
            <a:r>
              <a:rPr lang="pt-BR" dirty="0"/>
              <a:t>- Shopping</a:t>
            </a:r>
          </a:p>
          <a:p>
            <a:r>
              <a:rPr lang="pt-BR" dirty="0"/>
              <a:t>- Clinica</a:t>
            </a:r>
          </a:p>
          <a:p>
            <a:r>
              <a:rPr lang="pt-BR" dirty="0"/>
              <a:t>- Banco</a:t>
            </a:r>
          </a:p>
        </p:txBody>
      </p:sp>
    </p:spTree>
    <p:extLst>
      <p:ext uri="{BB962C8B-B14F-4D97-AF65-F5344CB8AC3E}">
        <p14:creationId xmlns:p14="http://schemas.microsoft.com/office/powerpoint/2010/main" val="602419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19EF86242CBA741A871CE7D125DB077" ma:contentTypeVersion="4" ma:contentTypeDescription="Crie um novo documento." ma:contentTypeScope="" ma:versionID="cacd35475db3110ecf7e60c90cfbe5ac">
  <xsd:schema xmlns:xsd="http://www.w3.org/2001/XMLSchema" xmlns:xs="http://www.w3.org/2001/XMLSchema" xmlns:p="http://schemas.microsoft.com/office/2006/metadata/properties" xmlns:ns2="429d3103-8a27-4d75-b1f9-e1715687ad07" targetNamespace="http://schemas.microsoft.com/office/2006/metadata/properties" ma:root="true" ma:fieldsID="cc67a719f8b6ea369b115065a9b7cd91" ns2:_="">
    <xsd:import namespace="429d3103-8a27-4d75-b1f9-e1715687ad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9d3103-8a27-4d75-b1f9-e1715687ad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770AD7-C260-4764-9613-2B3B363998C1}"/>
</file>

<file path=customXml/itemProps2.xml><?xml version="1.0" encoding="utf-8"?>
<ds:datastoreItem xmlns:ds="http://schemas.openxmlformats.org/officeDocument/2006/customXml" ds:itemID="{D8B9B75B-3F3C-4335-B6C3-D6F080267494}"/>
</file>

<file path=customXml/itemProps3.xml><?xml version="1.0" encoding="utf-8"?>
<ds:datastoreItem xmlns:ds="http://schemas.openxmlformats.org/officeDocument/2006/customXml" ds:itemID="{5BF10B9F-34CC-4CFE-A0B5-D109B9BA960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2336</TotalTime>
  <Words>626</Words>
  <Application>Microsoft Office PowerPoint</Application>
  <PresentationFormat>Widescreen</PresentationFormat>
  <Paragraphs>107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Calibri</vt:lpstr>
      <vt:lpstr>Carlito</vt:lpstr>
      <vt:lpstr>Century Gothic</vt:lpstr>
      <vt:lpstr>Courier New</vt:lpstr>
      <vt:lpstr>Trebuchet MS</vt:lpstr>
      <vt:lpstr>Office Theme</vt:lpstr>
      <vt:lpstr>BANCO de dados Modelo Entidade e Relacionamento - CARDINALIDADE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BUSTAMANTE FERREIRA LEONOR</dc:creator>
  <cp:lastModifiedBy>WARNER BREZOLIN</cp:lastModifiedBy>
  <cp:revision>270</cp:revision>
  <dcterms:created xsi:type="dcterms:W3CDTF">2020-02-06T23:16:28Z</dcterms:created>
  <dcterms:modified xsi:type="dcterms:W3CDTF">2024-02-26T11:08:41Z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2019-03-22T00:00:00Z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2020-02-06T00:00:00Z</vt:filetime>
  </property>
  <property fmtid="{D5CDD505-2E9C-101B-9397-08002B2CF9AE}" pid="5" name="ContentTypeId">
    <vt:lpwstr>0x010100119EF86242CBA741A871CE7D125DB077</vt:lpwstr>
  </property>
</Properties>
</file>