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341" r:id="rId2"/>
    <p:sldId id="414" r:id="rId3"/>
    <p:sldId id="430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6" r:id="rId15"/>
    <p:sldId id="427" r:id="rId16"/>
    <p:sldId id="428" r:id="rId17"/>
    <p:sldId id="429" r:id="rId18"/>
    <p:sldId id="431" r:id="rId19"/>
    <p:sldId id="432" r:id="rId20"/>
    <p:sldId id="433" r:id="rId21"/>
    <p:sldId id="434" r:id="rId22"/>
    <p:sldId id="436" r:id="rId23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64" autoAdjust="0"/>
    <p:restoredTop sz="94660"/>
  </p:normalViewPr>
  <p:slideViewPr>
    <p:cSldViewPr>
      <p:cViewPr varScale="1">
        <p:scale>
          <a:sx n="80" d="100"/>
          <a:sy n="80" d="100"/>
        </p:scale>
        <p:origin x="1109" y="62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RNER BREZOLIN" userId="5965b03a-a112-4328-8103-b970c0ab26ec" providerId="ADAL" clId="{738BDC89-CA83-45BA-887C-339C3CE39486}"/>
    <pc:docChg chg="modSld">
      <pc:chgData name="WARNER BREZOLIN" userId="5965b03a-a112-4328-8103-b970c0ab26ec" providerId="ADAL" clId="{738BDC89-CA83-45BA-887C-339C3CE39486}" dt="2021-09-10T23:00:46.851" v="41" actId="14100"/>
      <pc:docMkLst>
        <pc:docMk/>
      </pc:docMkLst>
      <pc:sldChg chg="modSp mod">
        <pc:chgData name="WARNER BREZOLIN" userId="5965b03a-a112-4328-8103-b970c0ab26ec" providerId="ADAL" clId="{738BDC89-CA83-45BA-887C-339C3CE39486}" dt="2021-09-10T23:00:46.851" v="41" actId="14100"/>
        <pc:sldMkLst>
          <pc:docMk/>
          <pc:sldMk cId="1599845242" sldId="436"/>
        </pc:sldMkLst>
        <pc:graphicFrameChg chg="mod modGraphic">
          <ac:chgData name="WARNER BREZOLIN" userId="5965b03a-a112-4328-8103-b970c0ab26ec" providerId="ADAL" clId="{738BDC89-CA83-45BA-887C-339C3CE39486}" dt="2021-09-10T23:00:46.851" v="41" actId="14100"/>
          <ac:graphicFrameMkLst>
            <pc:docMk/>
            <pc:sldMk cId="1599845242" sldId="436"/>
            <ac:graphicFrameMk id="7" creationId="{00000000-0000-0000-0000-000000000000}"/>
          </ac:graphicFrameMkLst>
        </pc:graphicFrameChg>
        <pc:graphicFrameChg chg="mod modGraphic">
          <ac:chgData name="WARNER BREZOLIN" userId="5965b03a-a112-4328-8103-b970c0ab26ec" providerId="ADAL" clId="{738BDC89-CA83-45BA-887C-339C3CE39486}" dt="2021-09-10T23:00:39.151" v="38" actId="20577"/>
          <ac:graphicFrameMkLst>
            <pc:docMk/>
            <pc:sldMk cId="1599845242" sldId="436"/>
            <ac:graphicFrameMk id="11" creationId="{00000000-0000-0000-0000-000000000000}"/>
          </ac:graphicFrameMkLst>
        </pc:graphicFrameChg>
        <pc:graphicFrameChg chg="modGraphic">
          <ac:chgData name="WARNER BREZOLIN" userId="5965b03a-a112-4328-8103-b970c0ab26ec" providerId="ADAL" clId="{738BDC89-CA83-45BA-887C-339C3CE39486}" dt="2021-09-10T19:04:16.479" v="0" actId="20577"/>
          <ac:graphicFrameMkLst>
            <pc:docMk/>
            <pc:sldMk cId="1599845242" sldId="436"/>
            <ac:graphicFrameMk id="12" creationId="{00000000-0000-0000-0000-000000000000}"/>
          </ac:graphicFrameMkLst>
        </pc:graphicFrameChg>
      </pc:sldChg>
    </pc:docChg>
  </pc:docChgLst>
  <pc:docChgLst>
    <pc:chgData name="WARNER BREZOLIN" userId="5965b03a-a112-4328-8103-b970c0ab26ec" providerId="ADAL" clId="{4127E342-4861-4E4E-9CA1-38A48B5E859E}"/>
    <pc:docChg chg="modSld">
      <pc:chgData name="WARNER BREZOLIN" userId="5965b03a-a112-4328-8103-b970c0ab26ec" providerId="ADAL" clId="{4127E342-4861-4E4E-9CA1-38A48B5E859E}" dt="2023-03-20T10:38:02.838" v="75" actId="20577"/>
      <pc:docMkLst>
        <pc:docMk/>
      </pc:docMkLst>
      <pc:sldChg chg="modSp mod">
        <pc:chgData name="WARNER BREZOLIN" userId="5965b03a-a112-4328-8103-b970c0ab26ec" providerId="ADAL" clId="{4127E342-4861-4E4E-9CA1-38A48B5E859E}" dt="2023-03-20T10:38:02.838" v="75" actId="20577"/>
        <pc:sldMkLst>
          <pc:docMk/>
          <pc:sldMk cId="3611036796" sldId="418"/>
        </pc:sldMkLst>
        <pc:graphicFrameChg chg="modGraphic">
          <ac:chgData name="WARNER BREZOLIN" userId="5965b03a-a112-4328-8103-b970c0ab26ec" providerId="ADAL" clId="{4127E342-4861-4E4E-9CA1-38A48B5E859E}" dt="2023-03-20T10:38:02.838" v="75" actId="20577"/>
          <ac:graphicFrameMkLst>
            <pc:docMk/>
            <pc:sldMk cId="3611036796" sldId="418"/>
            <ac:graphicFrameMk id="4" creationId="{00000000-0000-0000-0000-000000000000}"/>
          </ac:graphicFrameMkLst>
        </pc:graphicFrameChg>
      </pc:sldChg>
      <pc:sldChg chg="modSp mod">
        <pc:chgData name="WARNER BREZOLIN" userId="5965b03a-a112-4328-8103-b970c0ab26ec" providerId="ADAL" clId="{4127E342-4861-4E4E-9CA1-38A48B5E859E}" dt="2023-03-14T19:20:32.175" v="31" actId="20577"/>
        <pc:sldMkLst>
          <pc:docMk/>
          <pc:sldMk cId="4273524291" sldId="423"/>
        </pc:sldMkLst>
        <pc:graphicFrameChg chg="modGraphic">
          <ac:chgData name="WARNER BREZOLIN" userId="5965b03a-a112-4328-8103-b970c0ab26ec" providerId="ADAL" clId="{4127E342-4861-4E4E-9CA1-38A48B5E859E}" dt="2023-03-14T19:20:32.175" v="31" actId="20577"/>
          <ac:graphicFrameMkLst>
            <pc:docMk/>
            <pc:sldMk cId="4273524291" sldId="423"/>
            <ac:graphicFrameMk id="14" creationId="{00000000-0000-0000-0000-000000000000}"/>
          </ac:graphicFrameMkLst>
        </pc:graphicFrameChg>
      </pc:sldChg>
    </pc:docChg>
  </pc:docChgLst>
  <pc:docChgLst>
    <pc:chgData name="WARNER BREZOLIN" userId="5965b03a-a112-4328-8103-b970c0ab26ec" providerId="ADAL" clId="{C65FFCB3-1D89-4775-86CD-4AFE555340F8}"/>
    <pc:docChg chg="custSel modSld">
      <pc:chgData name="WARNER BREZOLIN" userId="5965b03a-a112-4328-8103-b970c0ab26ec" providerId="ADAL" clId="{C65FFCB3-1D89-4775-86CD-4AFE555340F8}" dt="2022-08-31T11:09:22.905" v="1" actId="6549"/>
      <pc:docMkLst>
        <pc:docMk/>
      </pc:docMkLst>
      <pc:sldChg chg="delSp mod">
        <pc:chgData name="WARNER BREZOLIN" userId="5965b03a-a112-4328-8103-b970c0ab26ec" providerId="ADAL" clId="{C65FFCB3-1D89-4775-86CD-4AFE555340F8}" dt="2022-08-30T15:02:35.287" v="0" actId="478"/>
        <pc:sldMkLst>
          <pc:docMk/>
          <pc:sldMk cId="3021931668" sldId="341"/>
        </pc:sldMkLst>
        <pc:picChg chg="del">
          <ac:chgData name="WARNER BREZOLIN" userId="5965b03a-a112-4328-8103-b970c0ab26ec" providerId="ADAL" clId="{C65FFCB3-1D89-4775-86CD-4AFE555340F8}" dt="2022-08-30T15:02:35.287" v="0" actId="478"/>
          <ac:picMkLst>
            <pc:docMk/>
            <pc:sldMk cId="3021931668" sldId="341"/>
            <ac:picMk id="7" creationId="{00000000-0000-0000-0000-000000000000}"/>
          </ac:picMkLst>
        </pc:picChg>
      </pc:sldChg>
      <pc:sldChg chg="modSp mod">
        <pc:chgData name="WARNER BREZOLIN" userId="5965b03a-a112-4328-8103-b970c0ab26ec" providerId="ADAL" clId="{C65FFCB3-1D89-4775-86CD-4AFE555340F8}" dt="2022-08-31T11:09:22.905" v="1" actId="6549"/>
        <pc:sldMkLst>
          <pc:docMk/>
          <pc:sldMk cId="1266173119" sldId="417"/>
        </pc:sldMkLst>
        <pc:spChg chg="mod">
          <ac:chgData name="WARNER BREZOLIN" userId="5965b03a-a112-4328-8103-b970c0ab26ec" providerId="ADAL" clId="{C65FFCB3-1D89-4775-86CD-4AFE555340F8}" dt="2022-08-31T11:09:22.905" v="1" actId="6549"/>
          <ac:spMkLst>
            <pc:docMk/>
            <pc:sldMk cId="1266173119" sldId="417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4A04-21C9-49CB-8065-F35E7AEFBFBC}" type="datetimeFigureOut">
              <a:rPr lang="pt-BR" smtClean="0"/>
              <a:t>20/03/2023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6CC81-3FE2-46B3-928E-DB46E27C17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4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457200">
              <a:buNone/>
            </a:pPr>
            <a:fld id="{5257B995-136A-4A15-87A5-26420C3C1021}" type="slidenum">
              <a:rPr lang="en-US" sz="1200" b="0" i="0">
                <a:latin typeface="Calibri"/>
                <a:ea typeface="+mn-ea"/>
                <a:cs typeface="+mn-cs"/>
              </a:rPr>
              <a:t>1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96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pt-BR" smtClean="0"/>
              <a:t>20/03/2023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pt-BR" smtClean="0"/>
              <a:t>‹nº›</a:t>
            </a:fld>
            <a:endParaRPr lang="pt-BR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76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315404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189"/>
            <a:ext cx="5658484" cy="4210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/>
          <a:lstStyle/>
          <a:p>
            <a:pPr algn="l" defTabSz="457200">
              <a:spcBef>
                <a:spcPts val="0"/>
              </a:spcBef>
              <a:buNone/>
            </a:pPr>
            <a:r>
              <a:rPr lang="pt-BR" dirty="0">
                <a:solidFill>
                  <a:schemeClr val="tx1"/>
                </a:solidFill>
                <a:latin typeface="Century Gothic"/>
              </a:rPr>
              <a:t>BANCO de dados</a:t>
            </a:r>
            <a:br>
              <a:rPr lang="pt-BR" dirty="0">
                <a:solidFill>
                  <a:schemeClr val="tx1"/>
                </a:solidFill>
                <a:latin typeface="Century Gothic"/>
              </a:rPr>
            </a:br>
            <a:r>
              <a:rPr lang="pt-BR" sz="2800" b="1" dirty="0">
                <a:solidFill>
                  <a:srgbClr val="FF0000"/>
                </a:solidFill>
                <a:latin typeface="Century Gothic"/>
              </a:rPr>
              <a:t>NORMALIZAÇÃO</a:t>
            </a:r>
            <a:endParaRPr lang="pt-BR" sz="2800" b="1" i="0" dirty="0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5" name="Retângulo 4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/>
          <a:p>
            <a:pPr marL="0" indent="0" algn="l">
              <a:buNone/>
            </a:pPr>
            <a:r>
              <a:rPr lang="pt-BR" b="0" i="0" dirty="0">
                <a:solidFill>
                  <a:schemeClr val="tx1"/>
                </a:solidFill>
              </a:rPr>
              <a:t>Prof. Me. Warner </a:t>
            </a:r>
            <a:r>
              <a:rPr lang="pt-BR" b="0" i="0" dirty="0" err="1">
                <a:solidFill>
                  <a:schemeClr val="tx1"/>
                </a:solidFill>
              </a:rPr>
              <a:t>Brezolin</a:t>
            </a:r>
            <a:endParaRPr lang="pt-BR" b="0" i="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pt-BR" dirty="0">
                <a:solidFill>
                  <a:schemeClr val="tx1"/>
                </a:solidFill>
              </a:rPr>
              <a:t>wbrezolin@gmail.com</a:t>
            </a:r>
            <a:endParaRPr lang="pt-BR" b="0" i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931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sz="4200" dirty="0"/>
              <a:t>Normalização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7461" y="1265046"/>
            <a:ext cx="106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1066800" y="1905000"/>
            <a:ext cx="104394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dirty="0"/>
              <a:t>A Normalização é um processo formal passo a passo que examina os atributos de uma entidade, com o objetivo de evitar anomalias observadas na inclusão, exclusão e alteração de </a:t>
            </a:r>
            <a:r>
              <a:rPr lang="pt-BR" sz="4000" dirty="0" err="1"/>
              <a:t>Tuplas</a:t>
            </a:r>
            <a:r>
              <a:rPr lang="pt-BR" sz="4000" dirty="0"/>
              <a:t> específicas.</a:t>
            </a:r>
          </a:p>
        </p:txBody>
      </p:sp>
    </p:spTree>
    <p:extLst>
      <p:ext uri="{BB962C8B-B14F-4D97-AF65-F5344CB8AC3E}">
        <p14:creationId xmlns:p14="http://schemas.microsoft.com/office/powerpoint/2010/main" val="406049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sz="4200" dirty="0"/>
              <a:t>Normalização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7461" y="1265046"/>
            <a:ext cx="106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990600" y="1364818"/>
            <a:ext cx="104394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Conjunto de regras aplicadas em uma tabela com o objetivo de corrigir possíveis erros de projeto.</a:t>
            </a:r>
          </a:p>
          <a:p>
            <a:endParaRPr lang="pt-BR" sz="2800" dirty="0"/>
          </a:p>
          <a:p>
            <a:r>
              <a:rPr lang="pt-BR" sz="2800" dirty="0"/>
              <a:t>Objetivos para aplicar a normalização em tabelas: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400" dirty="0"/>
              <a:t>Evitar redundâncias e anomalias de atualização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400" dirty="0"/>
              <a:t>Eliminar estruturas do MER inexistentes no modelo lógico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r>
              <a:rPr lang="pt-BR" sz="2800" dirty="0"/>
              <a:t>As regras são chamadas Formas Normais: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400" dirty="0"/>
              <a:t>1ª Forma Normal (1FN)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400" dirty="0"/>
              <a:t>2ª Forma Normal (2FN)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400" dirty="0"/>
              <a:t>3ª Forma Normal (3FN)</a:t>
            </a:r>
          </a:p>
        </p:txBody>
      </p:sp>
    </p:spTree>
    <p:extLst>
      <p:ext uri="{BB962C8B-B14F-4D97-AF65-F5344CB8AC3E}">
        <p14:creationId xmlns:p14="http://schemas.microsoft.com/office/powerpoint/2010/main" val="1744307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"/>
          <p:cNvSpPr txBox="1">
            <a:spLocks noGrp="1"/>
          </p:cNvSpPr>
          <p:nvPr>
            <p:ph type="title"/>
          </p:nvPr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sz="4200" dirty="0"/>
              <a:t>Normalização</a:t>
            </a:r>
          </a:p>
        </p:txBody>
      </p:sp>
      <p:grpSp>
        <p:nvGrpSpPr>
          <p:cNvPr id="38" name="Agrupar 37"/>
          <p:cNvGrpSpPr/>
          <p:nvPr/>
        </p:nvGrpSpPr>
        <p:grpSpPr>
          <a:xfrm>
            <a:off x="564632" y="2171755"/>
            <a:ext cx="10896600" cy="1012520"/>
            <a:chOff x="389225" y="3194966"/>
            <a:chExt cx="10896600" cy="1012520"/>
          </a:xfrm>
        </p:grpSpPr>
        <p:sp>
          <p:nvSpPr>
            <p:cNvPr id="26" name="Seta para a Direita 25"/>
            <p:cNvSpPr/>
            <p:nvPr/>
          </p:nvSpPr>
          <p:spPr>
            <a:xfrm>
              <a:off x="389225" y="3194966"/>
              <a:ext cx="10896600" cy="1012520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Retângulo 26"/>
            <p:cNvSpPr/>
            <p:nvPr/>
          </p:nvSpPr>
          <p:spPr>
            <a:xfrm>
              <a:off x="2743199" y="3521994"/>
              <a:ext cx="556563" cy="36933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1905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pt-BR" b="1" dirty="0"/>
                <a:t>1FN</a:t>
              </a:r>
            </a:p>
          </p:txBody>
        </p:sp>
        <p:sp>
          <p:nvSpPr>
            <p:cNvPr id="32" name="Retângulo 31"/>
            <p:cNvSpPr/>
            <p:nvPr/>
          </p:nvSpPr>
          <p:spPr>
            <a:xfrm>
              <a:off x="5280962" y="3521994"/>
              <a:ext cx="556563" cy="36933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1905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pt-BR" b="1" dirty="0"/>
                <a:t>2FN</a:t>
              </a:r>
            </a:p>
          </p:txBody>
        </p:sp>
        <p:sp>
          <p:nvSpPr>
            <p:cNvPr id="33" name="Retângulo 32"/>
            <p:cNvSpPr/>
            <p:nvPr/>
          </p:nvSpPr>
          <p:spPr>
            <a:xfrm>
              <a:off x="7818725" y="3508936"/>
              <a:ext cx="556563" cy="36933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1905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pt-BR" b="1" dirty="0"/>
                <a:t>3FN</a:t>
              </a:r>
            </a:p>
          </p:txBody>
        </p:sp>
        <p:sp>
          <p:nvSpPr>
            <p:cNvPr id="34" name="Retângulo Arredondado 33"/>
            <p:cNvSpPr/>
            <p:nvPr/>
          </p:nvSpPr>
          <p:spPr>
            <a:xfrm>
              <a:off x="914399" y="3249460"/>
              <a:ext cx="1676400" cy="914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214734" y="3430804"/>
              <a:ext cx="1236980" cy="5746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indent="77470">
                <a:spcBef>
                  <a:spcPts val="100"/>
                </a:spcBef>
              </a:pPr>
              <a:r>
                <a:rPr b="1" spc="-110" dirty="0">
                  <a:solidFill>
                    <a:schemeClr val="bg1"/>
                  </a:solidFill>
                  <a:cs typeface="Trebuchet MS"/>
                </a:rPr>
                <a:t>Tabela </a:t>
              </a:r>
              <a:r>
                <a:rPr b="1" spc="-60" dirty="0">
                  <a:solidFill>
                    <a:schemeClr val="bg1"/>
                  </a:solidFill>
                  <a:cs typeface="Trebuchet MS"/>
                </a:rPr>
                <a:t>não  </a:t>
              </a:r>
              <a:r>
                <a:rPr b="1" spc="-90" dirty="0">
                  <a:solidFill>
                    <a:schemeClr val="bg1"/>
                  </a:solidFill>
                  <a:cs typeface="Trebuchet MS"/>
                </a:rPr>
                <a:t>n</a:t>
              </a:r>
              <a:r>
                <a:rPr b="1" spc="-80" dirty="0">
                  <a:solidFill>
                    <a:schemeClr val="bg1"/>
                  </a:solidFill>
                  <a:cs typeface="Trebuchet MS"/>
                </a:rPr>
                <a:t>o</a:t>
              </a:r>
              <a:r>
                <a:rPr b="1" spc="-180" dirty="0">
                  <a:solidFill>
                    <a:schemeClr val="bg1"/>
                  </a:solidFill>
                  <a:cs typeface="Trebuchet MS"/>
                </a:rPr>
                <a:t>r</a:t>
              </a:r>
              <a:r>
                <a:rPr b="1" spc="-65" dirty="0">
                  <a:solidFill>
                    <a:schemeClr val="bg1"/>
                  </a:solidFill>
                  <a:cs typeface="Trebuchet MS"/>
                </a:rPr>
                <a:t>maliza</a:t>
              </a:r>
              <a:r>
                <a:rPr b="1" spc="-85" dirty="0">
                  <a:solidFill>
                    <a:schemeClr val="bg1"/>
                  </a:solidFill>
                  <a:cs typeface="Trebuchet MS"/>
                </a:rPr>
                <a:t>d</a:t>
              </a:r>
              <a:r>
                <a:rPr b="1" spc="-10" dirty="0">
                  <a:solidFill>
                    <a:schemeClr val="bg1"/>
                  </a:solidFill>
                  <a:cs typeface="Trebuchet MS"/>
                </a:rPr>
                <a:t>a</a:t>
              </a:r>
              <a:endParaRPr dirty="0">
                <a:solidFill>
                  <a:schemeClr val="bg1"/>
                </a:solidFill>
                <a:cs typeface="Trebuchet MS"/>
              </a:endParaRPr>
            </a:p>
          </p:txBody>
        </p:sp>
        <p:sp>
          <p:nvSpPr>
            <p:cNvPr id="35" name="Retângulo Arredondado 34"/>
            <p:cNvSpPr/>
            <p:nvPr/>
          </p:nvSpPr>
          <p:spPr>
            <a:xfrm>
              <a:off x="3452162" y="3260941"/>
              <a:ext cx="1676400" cy="914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Retângulo Arredondado 35"/>
            <p:cNvSpPr/>
            <p:nvPr/>
          </p:nvSpPr>
          <p:spPr>
            <a:xfrm>
              <a:off x="5989925" y="3244026"/>
              <a:ext cx="1676400" cy="914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Retângulo Arredondado 36"/>
            <p:cNvSpPr/>
            <p:nvPr/>
          </p:nvSpPr>
          <p:spPr>
            <a:xfrm>
              <a:off x="8527688" y="3245231"/>
              <a:ext cx="1676400" cy="914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object 13"/>
            <p:cNvSpPr txBox="1"/>
            <p:nvPr/>
          </p:nvSpPr>
          <p:spPr>
            <a:xfrm>
              <a:off x="8642293" y="3370096"/>
              <a:ext cx="1447190" cy="57964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pt-BR"/>
              </a:defPPr>
              <a:lvl1pPr marL="12700" marR="5080" indent="77470">
                <a:spcBef>
                  <a:spcPts val="100"/>
                </a:spcBef>
                <a:defRPr b="1" spc="-110">
                  <a:cs typeface="Trebuchet MS"/>
                </a:defRPr>
              </a:lvl1pPr>
            </a:lstStyle>
            <a:p>
              <a:pPr algn="ctr"/>
              <a:r>
                <a:rPr dirty="0" err="1">
                  <a:solidFill>
                    <a:schemeClr val="bg1"/>
                  </a:solidFill>
                </a:rPr>
                <a:t>Tabela</a:t>
              </a:r>
              <a:endParaRPr lang="pt-BR" dirty="0">
                <a:solidFill>
                  <a:schemeClr val="bg1"/>
                </a:solidFill>
              </a:endParaRPr>
            </a:p>
            <a:p>
              <a:pPr algn="ctr"/>
              <a:r>
                <a:rPr lang="pt-BR" dirty="0">
                  <a:solidFill>
                    <a:schemeClr val="bg1"/>
                  </a:solidFill>
                </a:rPr>
                <a:t>NORMALIZADA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29" name="object 13"/>
            <p:cNvSpPr txBox="1"/>
            <p:nvPr/>
          </p:nvSpPr>
          <p:spPr>
            <a:xfrm>
              <a:off x="6299488" y="3411403"/>
              <a:ext cx="962025" cy="57964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pt-BR"/>
              </a:defPPr>
              <a:lvl1pPr marL="12700" marR="5080" indent="77470">
                <a:spcBef>
                  <a:spcPts val="100"/>
                </a:spcBef>
                <a:defRPr b="1" spc="-110">
                  <a:cs typeface="Trebuchet MS"/>
                </a:defRPr>
              </a:lvl1pPr>
            </a:lstStyle>
            <a:p>
              <a:pPr algn="ctr"/>
              <a:r>
                <a:rPr dirty="0">
                  <a:solidFill>
                    <a:schemeClr val="bg1"/>
                  </a:solidFill>
                </a:rPr>
                <a:t>Tabela na</a:t>
              </a:r>
            </a:p>
            <a:p>
              <a:pPr algn="ctr"/>
              <a:r>
                <a:rPr lang="pt-BR" dirty="0">
                  <a:solidFill>
                    <a:schemeClr val="bg1"/>
                  </a:solidFill>
                </a:rPr>
                <a:t>2</a:t>
              </a:r>
              <a:r>
                <a:rPr dirty="0">
                  <a:solidFill>
                    <a:schemeClr val="bg1"/>
                  </a:solidFill>
                </a:rPr>
                <a:t>FN</a:t>
              </a: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761725" y="3430804"/>
              <a:ext cx="962025" cy="57964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pt-BR"/>
              </a:defPPr>
              <a:lvl1pPr marL="12700" marR="5080" indent="77470">
                <a:spcBef>
                  <a:spcPts val="100"/>
                </a:spcBef>
                <a:defRPr b="1" spc="-110">
                  <a:cs typeface="Trebuchet MS"/>
                </a:defRPr>
              </a:lvl1pPr>
            </a:lstStyle>
            <a:p>
              <a:pPr algn="ctr"/>
              <a:r>
                <a:rPr dirty="0">
                  <a:solidFill>
                    <a:schemeClr val="bg1"/>
                  </a:solidFill>
                </a:rPr>
                <a:t>Tabela na</a:t>
              </a:r>
            </a:p>
            <a:p>
              <a:pPr algn="ctr"/>
              <a:r>
                <a:rPr dirty="0">
                  <a:solidFill>
                    <a:schemeClr val="bg1"/>
                  </a:solidFill>
                </a:rPr>
                <a:t>1FN</a:t>
              </a:r>
            </a:p>
          </p:txBody>
        </p:sp>
      </p:grp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003685"/>
              </p:ext>
            </p:extLst>
          </p:nvPr>
        </p:nvGraphicFramePr>
        <p:xfrm>
          <a:off x="1264392" y="4191000"/>
          <a:ext cx="9497080" cy="1832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5280">
                  <a:extLst>
                    <a:ext uri="{9D8B030D-6E8A-4147-A177-3AD203B41FA5}">
                      <a16:colId xmlns:a16="http://schemas.microsoft.com/office/drawing/2014/main" val="2161116603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2451117196"/>
                    </a:ext>
                  </a:extLst>
                </a:gridCol>
              </a:tblGrid>
              <a:tr h="461221">
                <a:tc>
                  <a:txBody>
                    <a:bodyPr/>
                    <a:lstStyle/>
                    <a:p>
                      <a:r>
                        <a:rPr lang="pt-BR" dirty="0"/>
                        <a:t>Tipo de normalização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Conceito</a:t>
                      </a:r>
                      <a:r>
                        <a:rPr lang="pt-BR" baseline="0" dirty="0"/>
                        <a:t> básico / regra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913420"/>
                  </a:ext>
                </a:extLst>
              </a:tr>
              <a:tr h="453179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1FN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Domínio multivalorado,</a:t>
                      </a:r>
                      <a:r>
                        <a:rPr lang="pt-BR" baseline="0" dirty="0"/>
                        <a:t> atributo determinante ou chave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0181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2FN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Dependência</a:t>
                      </a:r>
                      <a:r>
                        <a:rPr lang="pt-BR" baseline="0" dirty="0"/>
                        <a:t> funcional, atributo determinante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284871"/>
                  </a:ext>
                </a:extLst>
              </a:tr>
              <a:tr h="461221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3FN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Dependência funcional transitiva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579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912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37461" y="1265046"/>
            <a:ext cx="106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1ª Forma Normal (1FN)</a:t>
            </a:r>
          </a:p>
        </p:txBody>
      </p:sp>
      <p:sp>
        <p:nvSpPr>
          <p:cNvPr id="7" name="Retângulo 6"/>
          <p:cNvSpPr/>
          <p:nvPr/>
        </p:nvSpPr>
        <p:spPr>
          <a:xfrm>
            <a:off x="761999" y="1828800"/>
            <a:ext cx="10134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Uma tabela faz parte da primeira forma normal, quando a mesma possui:</a:t>
            </a:r>
          </a:p>
          <a:p>
            <a:endParaRPr lang="pt-BR" sz="2800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800" dirty="0"/>
              <a:t>Atributos multivalorados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800" dirty="0"/>
              <a:t>Atributos compostos</a:t>
            </a:r>
          </a:p>
          <a:p>
            <a:endParaRPr lang="pt-BR" sz="2800" dirty="0"/>
          </a:p>
          <a:p>
            <a:r>
              <a:rPr lang="pt-BR" sz="2800" dirty="0"/>
              <a:t>Alguns autores se referem a estes atributos como tabelas aninhadas</a:t>
            </a:r>
          </a:p>
          <a:p>
            <a:endParaRPr lang="pt-BR" sz="2800" dirty="0"/>
          </a:p>
          <a:p>
            <a:r>
              <a:rPr lang="pt-BR" sz="2800" dirty="0">
                <a:solidFill>
                  <a:srgbClr val="FF0000"/>
                </a:solidFill>
              </a:rPr>
              <a:t>QUAIS IMPACTOS EM TER ESSE TIPO DE ATRIBUTO ?</a:t>
            </a:r>
          </a:p>
        </p:txBody>
      </p:sp>
    </p:spTree>
    <p:extLst>
      <p:ext uri="{BB962C8B-B14F-4D97-AF65-F5344CB8AC3E}">
        <p14:creationId xmlns:p14="http://schemas.microsoft.com/office/powerpoint/2010/main" val="1266173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37461" y="1265046"/>
            <a:ext cx="106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12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913256"/>
              </p:ext>
            </p:extLst>
          </p:nvPr>
        </p:nvGraphicFramePr>
        <p:xfrm>
          <a:off x="1600199" y="3059330"/>
          <a:ext cx="9296400" cy="348575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66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8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730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lang="pt-BR" sz="2250" dirty="0">
                        <a:latin typeface="+mn-lt"/>
                      </a:endParaRPr>
                    </a:p>
                    <a:p>
                      <a:pPr marL="1130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pt-BR" sz="1400" dirty="0">
                          <a:latin typeface="+mn-lt"/>
                        </a:rPr>
                        <a:t>CODPROJ</a:t>
                      </a:r>
                      <a:endParaRPr lang="pt-BR" sz="1400" dirty="0">
                        <a:latin typeface="+mn-lt"/>
                        <a:cs typeface="Verdana"/>
                      </a:endParaRPr>
                    </a:p>
                  </a:txBody>
                  <a:tcPr marL="0" marR="0" marT="571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lang="pt-BR" sz="2250" dirty="0">
                        <a:latin typeface="+mn-lt"/>
                      </a:endParaRPr>
                    </a:p>
                    <a:p>
                      <a:pPr marL="84138" indent="0" algn="l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pt-BR" sz="1400" dirty="0">
                          <a:latin typeface="+mn-lt"/>
                        </a:rPr>
                        <a:t>STATUS</a:t>
                      </a:r>
                      <a:endParaRPr lang="pt-BR" sz="1400" dirty="0">
                        <a:latin typeface="+mn-lt"/>
                        <a:cs typeface="Verdana"/>
                      </a:endParaRPr>
                    </a:p>
                  </a:txBody>
                  <a:tcPr marL="0" marR="0" marT="5715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lang="pt-BR" sz="2250" dirty="0">
                        <a:latin typeface="+mn-lt"/>
                      </a:endParaRPr>
                    </a:p>
                    <a:p>
                      <a:pPr marL="84138" indent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pt-BR" sz="1400" spc="-5" dirty="0">
                          <a:latin typeface="+mn-lt"/>
                        </a:rPr>
                        <a:t>DESCR</a:t>
                      </a:r>
                      <a:endParaRPr lang="pt-BR" sz="1400" dirty="0">
                        <a:latin typeface="+mn-lt"/>
                        <a:cs typeface="Verdana"/>
                      </a:endParaRPr>
                    </a:p>
                  </a:txBody>
                  <a:tcPr marL="0" marR="0" marT="5715" marB="0"/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pt-BR" sz="1400" spc="-5" dirty="0">
                          <a:latin typeface="+mn-lt"/>
                          <a:cs typeface="+mn-cs"/>
                        </a:rPr>
                        <a:t>FUNCIONÁRIOS</a:t>
                      </a:r>
                      <a:endParaRPr lang="pt-BR" sz="1400" dirty="0">
                        <a:latin typeface="+mn-lt"/>
                        <a:cs typeface="Verdana"/>
                      </a:endParaRPr>
                    </a:p>
                  </a:txBody>
                  <a:tcPr marL="0" marR="0" marT="113664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pt-BR" sz="1400" dirty="0">
                          <a:latin typeface="+mn-lt"/>
                        </a:rPr>
                        <a:t>CODFUNC</a:t>
                      </a:r>
                      <a:endParaRPr lang="pt-BR" sz="1400" dirty="0">
                        <a:latin typeface="+mn-lt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pt-BR" sz="1400" spc="-5" dirty="0">
                          <a:latin typeface="+mn-lt"/>
                        </a:rPr>
                        <a:t>NOME</a:t>
                      </a:r>
                      <a:endParaRPr lang="pt-BR" sz="1400" dirty="0">
                        <a:latin typeface="+mn-lt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pt-BR" sz="1400" dirty="0">
                          <a:latin typeface="+mn-lt"/>
                          <a:cs typeface="+mn-cs"/>
                        </a:rPr>
                        <a:t>NIVEL</a:t>
                      </a:r>
                      <a:endParaRPr lang="pt-BR" sz="1400" dirty="0">
                        <a:latin typeface="+mn-lt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pt-BR" sz="1400" spc="-5" dirty="0">
                          <a:latin typeface="+mn-lt"/>
                        </a:rPr>
                        <a:t>CHSEM</a:t>
                      </a:r>
                      <a:endParaRPr lang="pt-BR" sz="1400" dirty="0">
                        <a:latin typeface="+mn-lt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pt-BR" sz="1400" spc="-5" dirty="0">
                          <a:latin typeface="+mn-lt"/>
                        </a:rPr>
                        <a:t>DTADMISSÃO</a:t>
                      </a:r>
                      <a:endParaRPr lang="pt-BR" sz="1400" dirty="0">
                        <a:latin typeface="+mn-lt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lang="pt-BR" sz="1400" dirty="0">
                          <a:latin typeface="+mn-lt"/>
                        </a:rPr>
                        <a:t>VALORHORA</a:t>
                      </a:r>
                      <a:endParaRPr lang="pt-BR" sz="1400" dirty="0">
                        <a:latin typeface="+mn-lt"/>
                        <a:cs typeface="Verdana"/>
                      </a:endParaRPr>
                    </a:p>
                  </a:txBody>
                  <a:tcPr marL="0" marR="0" marT="11366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05">
                <a:tc rowSpan="5">
                  <a:txBody>
                    <a:bodyPr/>
                    <a:lstStyle/>
                    <a:p>
                      <a:pPr marL="51435">
                        <a:lnSpc>
                          <a:spcPts val="1525"/>
                        </a:lnSpc>
                      </a:pPr>
                      <a:r>
                        <a:rPr lang="pt-BR" sz="1300" spc="-10" dirty="0">
                          <a:latin typeface="+mn-lt"/>
                        </a:rPr>
                        <a:t>001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 rowSpan="5">
                  <a:txBody>
                    <a:bodyPr/>
                    <a:lstStyle/>
                    <a:p>
                      <a:pPr marL="0" marR="366395" indent="0" defTabSz="1074738">
                        <a:lnSpc>
                          <a:spcPts val="1560"/>
                        </a:lnSpc>
                        <a:spcBef>
                          <a:spcPts val="15"/>
                        </a:spcBef>
                      </a:pPr>
                      <a:r>
                        <a:rPr lang="pt-BR" sz="1300" spc="-5" dirty="0">
                          <a:latin typeface="+mn-lt"/>
                        </a:rPr>
                        <a:t>Em andamento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1905" marB="0"/>
                </a:tc>
                <a:tc rowSpan="5">
                  <a:txBody>
                    <a:bodyPr/>
                    <a:lstStyle/>
                    <a:p>
                      <a:pPr marL="52069" marR="44450">
                        <a:lnSpc>
                          <a:spcPts val="1560"/>
                        </a:lnSpc>
                        <a:spcBef>
                          <a:spcPts val="15"/>
                        </a:spcBef>
                        <a:tabLst>
                          <a:tab pos="777240" algn="l"/>
                        </a:tabLst>
                      </a:pPr>
                      <a:r>
                        <a:rPr lang="pt-BR" sz="1300" dirty="0">
                          <a:latin typeface="+mn-lt"/>
                          <a:cs typeface="Arial"/>
                        </a:rPr>
                        <a:t>Rotinas contábeis</a:t>
                      </a:r>
                      <a:r>
                        <a:rPr lang="pt-BR" sz="1300" baseline="0" dirty="0">
                          <a:latin typeface="+mn-lt"/>
                          <a:cs typeface="Arial"/>
                        </a:rPr>
                        <a:t> junto ao financeiro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25"/>
                        </a:lnSpc>
                      </a:pPr>
                      <a:r>
                        <a:rPr lang="pt-BR" sz="1300" spc="-10" dirty="0">
                          <a:latin typeface="+mn-lt"/>
                        </a:rPr>
                        <a:t>001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25"/>
                        </a:lnSpc>
                      </a:pPr>
                      <a:r>
                        <a:rPr lang="pt-BR" sz="1300" spc="-5" dirty="0">
                          <a:latin typeface="+mn-lt"/>
                        </a:rPr>
                        <a:t>Warner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525"/>
                        </a:lnSpc>
                      </a:pPr>
                      <a:r>
                        <a:rPr lang="pt-BR" sz="1300" spc="-10" dirty="0">
                          <a:latin typeface="+mn-lt"/>
                        </a:rPr>
                        <a:t>N</a:t>
                      </a:r>
                      <a:r>
                        <a:rPr sz="1300" spc="-10" dirty="0">
                          <a:latin typeface="+mn-lt"/>
                        </a:rPr>
                        <a:t>1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525"/>
                        </a:lnSpc>
                      </a:pPr>
                      <a:r>
                        <a:rPr sz="1300" dirty="0">
                          <a:latin typeface="+mn-lt"/>
                        </a:rPr>
                        <a:t>4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525"/>
                        </a:lnSpc>
                      </a:pPr>
                      <a:r>
                        <a:rPr lang="pt-BR" sz="1300" dirty="0">
                          <a:latin typeface="+mn-lt"/>
                          <a:cs typeface="Arial"/>
                        </a:rPr>
                        <a:t>05/02/2023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525"/>
                        </a:lnSpc>
                      </a:pPr>
                      <a:r>
                        <a:rPr lang="pt-BR" sz="1300" spc="-5" dirty="0">
                          <a:latin typeface="+mn-lt"/>
                        </a:rPr>
                        <a:t>150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25"/>
                        </a:lnSpc>
                      </a:pPr>
                      <a:r>
                        <a:rPr lang="pt-BR" sz="1300" spc="-10" dirty="0">
                          <a:latin typeface="+mn-lt"/>
                          <a:cs typeface="+mn-cs"/>
                        </a:rPr>
                        <a:t>002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25"/>
                        </a:lnSpc>
                      </a:pPr>
                      <a:r>
                        <a:rPr lang="pt-BR" sz="1300" spc="-5" dirty="0">
                          <a:latin typeface="+mn-lt"/>
                          <a:cs typeface="+mn-cs"/>
                        </a:rPr>
                        <a:t>Maria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525"/>
                        </a:lnSpc>
                      </a:pPr>
                      <a:r>
                        <a:rPr lang="pt-BR" sz="1300" spc="-10" dirty="0">
                          <a:latin typeface="+mn-lt"/>
                        </a:rPr>
                        <a:t>N</a:t>
                      </a:r>
                      <a:r>
                        <a:rPr sz="1300" spc="-10" dirty="0">
                          <a:latin typeface="+mn-lt"/>
                        </a:rPr>
                        <a:t>2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525"/>
                        </a:lnSpc>
                      </a:pPr>
                      <a:r>
                        <a:rPr sz="1300" dirty="0">
                          <a:latin typeface="+mn-lt"/>
                        </a:rPr>
                        <a:t>4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ts val="1525"/>
                        </a:lnSpc>
                      </a:pPr>
                      <a:r>
                        <a:rPr lang="pt-BR" sz="1300" dirty="0">
                          <a:latin typeface="+mn-lt"/>
                          <a:cs typeface="Arial"/>
                        </a:rPr>
                        <a:t>05/02/2023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525"/>
                        </a:lnSpc>
                      </a:pPr>
                      <a:r>
                        <a:rPr lang="pt-BR" sz="1300" spc="-5" dirty="0">
                          <a:latin typeface="+mn-lt"/>
                        </a:rPr>
                        <a:t>200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25"/>
                        </a:lnSpc>
                      </a:pPr>
                      <a:r>
                        <a:rPr lang="pt-BR" sz="1300" spc="-10" dirty="0">
                          <a:latin typeface="+mn-lt"/>
                          <a:cs typeface="+mn-cs"/>
                        </a:rPr>
                        <a:t>003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25"/>
                        </a:lnSpc>
                      </a:pPr>
                      <a:r>
                        <a:rPr sz="1300" spc="-5" dirty="0">
                          <a:latin typeface="+mn-lt"/>
                        </a:rPr>
                        <a:t>Jo</a:t>
                      </a:r>
                      <a:r>
                        <a:rPr lang="pt-BR" sz="1300" spc="-5" dirty="0" err="1">
                          <a:latin typeface="+mn-lt"/>
                        </a:rPr>
                        <a:t>ão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525"/>
                        </a:lnSpc>
                      </a:pPr>
                      <a:r>
                        <a:rPr lang="pt-BR" sz="1300" spc="-10" dirty="0">
                          <a:latin typeface="+mn-lt"/>
                        </a:rPr>
                        <a:t>N</a:t>
                      </a:r>
                      <a:r>
                        <a:rPr sz="1300" spc="-10" dirty="0">
                          <a:latin typeface="+mn-lt"/>
                        </a:rPr>
                        <a:t>1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525"/>
                        </a:lnSpc>
                      </a:pPr>
                      <a:r>
                        <a:rPr sz="1300" dirty="0">
                          <a:latin typeface="+mn-lt"/>
                        </a:rPr>
                        <a:t>9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525"/>
                        </a:lnSpc>
                      </a:pPr>
                      <a:r>
                        <a:rPr lang="pt-BR" sz="1300" dirty="0">
                          <a:latin typeface="+mn-lt"/>
                          <a:cs typeface="Arial"/>
                        </a:rPr>
                        <a:t>05/02/2023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525"/>
                        </a:lnSpc>
                      </a:pPr>
                      <a:r>
                        <a:rPr lang="pt-BR" sz="1300" spc="-5" dirty="0">
                          <a:latin typeface="+mn-lt"/>
                        </a:rPr>
                        <a:t>150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25"/>
                        </a:lnSpc>
                      </a:pPr>
                      <a:r>
                        <a:rPr lang="pt-BR" sz="1300" spc="-10" dirty="0">
                          <a:latin typeface="+mn-lt"/>
                          <a:cs typeface="+mn-cs"/>
                        </a:rPr>
                        <a:t>004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25"/>
                        </a:lnSpc>
                      </a:pPr>
                      <a:r>
                        <a:rPr lang="pt-BR" sz="1300" spc="-5" dirty="0">
                          <a:latin typeface="+mn-lt"/>
                          <a:cs typeface="+mn-cs"/>
                        </a:rPr>
                        <a:t>Anna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525"/>
                        </a:lnSpc>
                      </a:pPr>
                      <a:r>
                        <a:rPr lang="pt-BR" sz="1300" spc="-10" dirty="0">
                          <a:latin typeface="+mn-lt"/>
                        </a:rPr>
                        <a:t>N</a:t>
                      </a:r>
                      <a:r>
                        <a:rPr sz="1300" spc="-10" dirty="0">
                          <a:latin typeface="+mn-lt"/>
                        </a:rPr>
                        <a:t>2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525"/>
                        </a:lnSpc>
                      </a:pPr>
                      <a:r>
                        <a:rPr sz="1300" dirty="0">
                          <a:latin typeface="+mn-lt"/>
                        </a:rPr>
                        <a:t>4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ts val="1525"/>
                        </a:lnSpc>
                      </a:pPr>
                      <a:r>
                        <a:rPr lang="pt-BR" sz="1300" dirty="0">
                          <a:latin typeface="+mn-lt"/>
                          <a:cs typeface="Arial"/>
                        </a:rPr>
                        <a:t>05/02/2023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525"/>
                        </a:lnSpc>
                      </a:pPr>
                      <a:r>
                        <a:rPr lang="pt-BR" sz="1300" spc="-5" dirty="0">
                          <a:latin typeface="+mn-lt"/>
                        </a:rPr>
                        <a:t>200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30"/>
                        </a:lnSpc>
                      </a:pPr>
                      <a:r>
                        <a:rPr lang="pt-BR" sz="1300" spc="-10" dirty="0">
                          <a:latin typeface="+mn-lt"/>
                          <a:cs typeface="+mn-cs"/>
                        </a:rPr>
                        <a:t>005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30"/>
                        </a:lnSpc>
                      </a:pPr>
                      <a:r>
                        <a:rPr lang="pt-BR" sz="1300" spc="-10" dirty="0">
                          <a:latin typeface="+mn-lt"/>
                          <a:cs typeface="+mn-cs"/>
                        </a:rPr>
                        <a:t>Vinicius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530"/>
                        </a:lnSpc>
                      </a:pPr>
                      <a:r>
                        <a:rPr lang="pt-BR" sz="1300" spc="-10" dirty="0">
                          <a:latin typeface="+mn-lt"/>
                        </a:rPr>
                        <a:t>N</a:t>
                      </a:r>
                      <a:r>
                        <a:rPr sz="1300" spc="-10" dirty="0">
                          <a:latin typeface="+mn-lt"/>
                        </a:rPr>
                        <a:t>1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530"/>
                        </a:lnSpc>
                      </a:pPr>
                      <a:r>
                        <a:rPr sz="1300" dirty="0">
                          <a:latin typeface="+mn-lt"/>
                        </a:rPr>
                        <a:t>4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530"/>
                        </a:lnSpc>
                      </a:pPr>
                      <a:r>
                        <a:rPr lang="pt-BR" sz="1300" dirty="0">
                          <a:latin typeface="+mn-lt"/>
                          <a:cs typeface="Arial"/>
                        </a:rPr>
                        <a:t>05/02/2023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530"/>
                        </a:lnSpc>
                      </a:pPr>
                      <a:r>
                        <a:rPr lang="pt-BR" sz="1300" spc="-5" dirty="0">
                          <a:latin typeface="+mn-lt"/>
                        </a:rPr>
                        <a:t>150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306">
                <a:tc rowSpan="2">
                  <a:txBody>
                    <a:bodyPr/>
                    <a:lstStyle/>
                    <a:p>
                      <a:pPr marL="51435">
                        <a:lnSpc>
                          <a:spcPts val="1530"/>
                        </a:lnSpc>
                      </a:pPr>
                      <a:r>
                        <a:rPr lang="pt-BR" sz="1300" spc="-30" dirty="0">
                          <a:latin typeface="+mn-lt"/>
                        </a:rPr>
                        <a:t>002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51435">
                        <a:lnSpc>
                          <a:spcPts val="1530"/>
                        </a:lnSpc>
                      </a:pPr>
                      <a:r>
                        <a:rPr lang="pt-BR" sz="1300" spc="-5" dirty="0">
                          <a:latin typeface="+mn-lt"/>
                        </a:rPr>
                        <a:t>Concluído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52069" marR="44450">
                        <a:lnSpc>
                          <a:spcPts val="1560"/>
                        </a:lnSpc>
                        <a:spcBef>
                          <a:spcPts val="20"/>
                        </a:spcBef>
                        <a:tabLst>
                          <a:tab pos="777240" algn="l"/>
                        </a:tabLst>
                      </a:pPr>
                      <a:r>
                        <a:rPr lang="pt-BR" sz="1300" dirty="0">
                          <a:latin typeface="+mn-lt"/>
                        </a:rPr>
                        <a:t>Emissão</a:t>
                      </a:r>
                      <a:r>
                        <a:rPr lang="pt-BR" sz="1300" baseline="0" dirty="0">
                          <a:latin typeface="+mn-lt"/>
                        </a:rPr>
                        <a:t> de boletos registrados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30"/>
                        </a:lnSpc>
                      </a:pPr>
                      <a:r>
                        <a:rPr lang="pt-BR" sz="1300" spc="-10" dirty="0">
                          <a:latin typeface="+mn-lt"/>
                          <a:cs typeface="+mn-cs"/>
                        </a:rPr>
                        <a:t>001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30"/>
                        </a:lnSpc>
                      </a:pPr>
                      <a:r>
                        <a:rPr lang="pt-BR" sz="1300" dirty="0">
                          <a:latin typeface="+mn-lt"/>
                          <a:cs typeface="Arial"/>
                        </a:rPr>
                        <a:t>Warner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530"/>
                        </a:lnSpc>
                      </a:pPr>
                      <a:r>
                        <a:rPr lang="pt-BR" sz="1300" spc="-10" dirty="0">
                          <a:latin typeface="+mn-lt"/>
                        </a:rPr>
                        <a:t>N</a:t>
                      </a:r>
                      <a:r>
                        <a:rPr sz="1300" spc="-10" dirty="0">
                          <a:latin typeface="+mn-lt"/>
                        </a:rPr>
                        <a:t>1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530"/>
                        </a:lnSpc>
                      </a:pPr>
                      <a:r>
                        <a:rPr sz="1300" dirty="0">
                          <a:latin typeface="+mn-lt"/>
                        </a:rPr>
                        <a:t>4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ts val="1530"/>
                        </a:lnSpc>
                      </a:pPr>
                      <a:r>
                        <a:rPr lang="pt-BR" sz="1300" dirty="0">
                          <a:latin typeface="+mn-lt"/>
                          <a:cs typeface="Arial"/>
                        </a:rPr>
                        <a:t>05/02/2023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530"/>
                        </a:lnSpc>
                      </a:pPr>
                      <a:r>
                        <a:rPr lang="pt-BR" sz="1300" spc="-5" dirty="0">
                          <a:latin typeface="+mn-lt"/>
                        </a:rPr>
                        <a:t>150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3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30"/>
                        </a:lnSpc>
                      </a:pPr>
                      <a:r>
                        <a:rPr lang="pt-BR" sz="1300" spc="-30" dirty="0">
                          <a:latin typeface="+mn-lt"/>
                          <a:cs typeface="+mn-cs"/>
                        </a:rPr>
                        <a:t>007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30"/>
                        </a:lnSpc>
                      </a:pPr>
                      <a:r>
                        <a:rPr lang="pt-BR" sz="1300" spc="-10" dirty="0">
                          <a:latin typeface="+mn-lt"/>
                          <a:cs typeface="+mn-cs"/>
                        </a:rPr>
                        <a:t>Davi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530"/>
                        </a:lnSpc>
                      </a:pPr>
                      <a:r>
                        <a:rPr lang="pt-BR" sz="1300" spc="-10" dirty="0">
                          <a:latin typeface="+mn-lt"/>
                        </a:rPr>
                        <a:t>N</a:t>
                      </a:r>
                      <a:r>
                        <a:rPr sz="1300" spc="-10" dirty="0">
                          <a:latin typeface="+mn-lt"/>
                        </a:rPr>
                        <a:t>2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530"/>
                        </a:lnSpc>
                      </a:pPr>
                      <a:r>
                        <a:rPr sz="1300" dirty="0">
                          <a:latin typeface="+mn-lt"/>
                        </a:rPr>
                        <a:t>4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530"/>
                        </a:lnSpc>
                      </a:pPr>
                      <a:r>
                        <a:rPr lang="pt-BR" sz="1300" dirty="0">
                          <a:latin typeface="+mn-lt"/>
                          <a:cs typeface="Arial"/>
                        </a:rPr>
                        <a:t>05/02/2023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530"/>
                        </a:lnSpc>
                      </a:pPr>
                      <a:r>
                        <a:rPr lang="pt-BR" sz="1300" spc="-5" dirty="0">
                          <a:latin typeface="+mn-lt"/>
                        </a:rPr>
                        <a:t>200</a:t>
                      </a:r>
                      <a:endParaRPr sz="1300" dirty="0">
                        <a:latin typeface="+mn-lt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1ª Forma Normal (1FN)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336" y="1381559"/>
            <a:ext cx="481012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036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37461" y="1265046"/>
            <a:ext cx="106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0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1ª Forma Normal (1FN)</a:t>
            </a:r>
          </a:p>
        </p:txBody>
      </p:sp>
      <p:sp>
        <p:nvSpPr>
          <p:cNvPr id="2" name="Retângulo 1"/>
          <p:cNvSpPr/>
          <p:nvPr/>
        </p:nvSpPr>
        <p:spPr>
          <a:xfrm>
            <a:off x="769069" y="2376234"/>
            <a:ext cx="109823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Cada atributo composto ou multivalorado deve ser transformado numa nova tabela.</a:t>
            </a:r>
          </a:p>
          <a:p>
            <a:r>
              <a:rPr lang="pt-BR" sz="2400" dirty="0"/>
              <a:t>Adiciona uma chave estrangeira nessa nova tabela.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838200" y="3641641"/>
            <a:ext cx="10651186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sz="2000" b="1" dirty="0"/>
              <a:t>PROJETOS</a:t>
            </a:r>
            <a:r>
              <a:rPr lang="pt-BR" sz="2000" dirty="0"/>
              <a:t> (</a:t>
            </a:r>
            <a:r>
              <a:rPr lang="pt-BR" sz="2000" u="sng" dirty="0"/>
              <a:t>CODPROJ</a:t>
            </a:r>
            <a:r>
              <a:rPr lang="pt-BR" sz="2000" dirty="0"/>
              <a:t>, STATUS, DESC, (</a:t>
            </a:r>
            <a:r>
              <a:rPr lang="pt-BR" sz="2000" u="sng" dirty="0"/>
              <a:t>CODFUNC</a:t>
            </a:r>
            <a:r>
              <a:rPr lang="pt-BR" sz="2000" dirty="0"/>
              <a:t>, NOME, NIVEL, CHSEM, DTADMISSAO, VALORHORA))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084" y="904629"/>
            <a:ext cx="4810125" cy="1400175"/>
          </a:xfrm>
          <a:prstGeom prst="rect">
            <a:avLst/>
          </a:prstGeom>
        </p:spPr>
      </p:pic>
      <p:sp>
        <p:nvSpPr>
          <p:cNvPr id="17" name="Retângulo 16"/>
          <p:cNvSpPr/>
          <p:nvPr/>
        </p:nvSpPr>
        <p:spPr>
          <a:xfrm>
            <a:off x="4182385" y="5075609"/>
            <a:ext cx="3962816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sz="2000" b="1" dirty="0"/>
              <a:t>PROJETOS</a:t>
            </a:r>
            <a:r>
              <a:rPr lang="pt-BR" sz="2000" dirty="0"/>
              <a:t> (</a:t>
            </a:r>
            <a:r>
              <a:rPr lang="pt-BR" sz="2000" u="sng" dirty="0"/>
              <a:t>CODPROJ</a:t>
            </a:r>
            <a:r>
              <a:rPr lang="pt-BR" sz="2000" dirty="0"/>
              <a:t>, STATUS, DESC)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1397167" y="5786446"/>
            <a:ext cx="9533251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sz="2000" b="1" dirty="0"/>
              <a:t>FUNCIONARIOS</a:t>
            </a:r>
            <a:r>
              <a:rPr lang="pt-BR" sz="2000" dirty="0"/>
              <a:t> (</a:t>
            </a:r>
            <a:r>
              <a:rPr lang="pt-BR" sz="2000" u="sng" dirty="0"/>
              <a:t>CODFUNC</a:t>
            </a:r>
            <a:r>
              <a:rPr lang="pt-BR" sz="2000" dirty="0"/>
              <a:t>, CODPROJ, NOME, NIVEL, CHSEM, DTADMISSAO, VALORHORA)</a:t>
            </a:r>
          </a:p>
          <a:p>
            <a:r>
              <a:rPr lang="pt-BR" sz="2000" dirty="0"/>
              <a:t>CODPROJ referencia PROJETOS</a:t>
            </a:r>
          </a:p>
        </p:txBody>
      </p:sp>
      <p:sp>
        <p:nvSpPr>
          <p:cNvPr id="19" name="Seta para Baixo 18"/>
          <p:cNvSpPr/>
          <p:nvPr/>
        </p:nvSpPr>
        <p:spPr>
          <a:xfrm>
            <a:off x="5858992" y="4253880"/>
            <a:ext cx="609600" cy="609600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9723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37461" y="1265046"/>
            <a:ext cx="106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0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Dependência Funcional</a:t>
            </a:r>
          </a:p>
        </p:txBody>
      </p:sp>
      <p:sp>
        <p:nvSpPr>
          <p:cNvPr id="7" name="Retângulo 6"/>
          <p:cNvSpPr/>
          <p:nvPr/>
        </p:nvSpPr>
        <p:spPr>
          <a:xfrm>
            <a:off x="767498" y="1752600"/>
            <a:ext cx="108204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Dependência Funcional é uma restrição entre dois subconjuntos de atributos, um atributo está relacionado com outro:</a:t>
            </a:r>
          </a:p>
          <a:p>
            <a:endParaRPr lang="pt-BR" sz="2800" dirty="0"/>
          </a:p>
          <a:p>
            <a:pPr algn="ctr"/>
            <a:r>
              <a:rPr lang="pt-BR" sz="2800" dirty="0"/>
              <a:t>A -&gt; B</a:t>
            </a:r>
          </a:p>
          <a:p>
            <a:pPr algn="ctr"/>
            <a:endParaRPr lang="pt-BR" sz="2800" dirty="0"/>
          </a:p>
          <a:p>
            <a:pPr algn="ctr"/>
            <a:endParaRPr lang="pt-BR" sz="2800" dirty="0"/>
          </a:p>
          <a:p>
            <a:endParaRPr lang="pt-BR" sz="2800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800" dirty="0"/>
              <a:t>Evitando redundância de dados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800" dirty="0"/>
              <a:t>Inconsistências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800" dirty="0"/>
              <a:t>Perda de dados em operações de remoções ou alterações</a:t>
            </a: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24326"/>
              </p:ext>
            </p:extLst>
          </p:nvPr>
        </p:nvGraphicFramePr>
        <p:xfrm>
          <a:off x="2113698" y="3953202"/>
          <a:ext cx="8127999" cy="370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2380866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58117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34351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Código do Aluno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Nome do Aluno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976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0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37461" y="1265046"/>
            <a:ext cx="106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0" dirty="0">
                <a:solidFill>
                  <a:srgbClr val="FFFFFF"/>
                </a:solidFill>
                <a:latin typeface="Trebuchet MS"/>
                <a:cs typeface="Trebuchet MS"/>
              </a:rPr>
              <a:t>9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Dependência Funcional</a:t>
            </a:r>
          </a:p>
        </p:txBody>
      </p:sp>
      <p:sp>
        <p:nvSpPr>
          <p:cNvPr id="7" name="Retângulo 6"/>
          <p:cNvSpPr/>
          <p:nvPr/>
        </p:nvSpPr>
        <p:spPr>
          <a:xfrm>
            <a:off x="1219200" y="1981200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800" dirty="0"/>
              <a:t>Tipos de Dependência:</a:t>
            </a:r>
          </a:p>
          <a:p>
            <a:endParaRPr lang="pt-BR" sz="2800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800" dirty="0"/>
              <a:t>Dependência Funcional Total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800" dirty="0"/>
              <a:t>Dependência Funcional Parcial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800" dirty="0"/>
              <a:t>Dependência Funcional Transitiva</a:t>
            </a:r>
          </a:p>
        </p:txBody>
      </p:sp>
    </p:spTree>
    <p:extLst>
      <p:ext uri="{BB962C8B-B14F-4D97-AF65-F5344CB8AC3E}">
        <p14:creationId xmlns:p14="http://schemas.microsoft.com/office/powerpoint/2010/main" val="2532975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96314" y="1265046"/>
            <a:ext cx="1873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5" dirty="0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Dependência Funcional Total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761999" y="1609479"/>
            <a:ext cx="102108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Os atributos não chave de uma tabela dependem totalmente da chave primária.</a:t>
            </a:r>
          </a:p>
        </p:txBody>
      </p:sp>
      <p:graphicFrame>
        <p:nvGraphicFramePr>
          <p:cNvPr id="16" name="Tabe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82297"/>
              </p:ext>
            </p:extLst>
          </p:nvPr>
        </p:nvGraphicFramePr>
        <p:xfrm>
          <a:off x="1681387" y="4495800"/>
          <a:ext cx="9276487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07844">
                  <a:extLst>
                    <a:ext uri="{9D8B030D-6E8A-4147-A177-3AD203B41FA5}">
                      <a16:colId xmlns:a16="http://schemas.microsoft.com/office/drawing/2014/main" val="1834761076"/>
                    </a:ext>
                  </a:extLst>
                </a:gridCol>
                <a:gridCol w="2758442">
                  <a:extLst>
                    <a:ext uri="{9D8B030D-6E8A-4147-A177-3AD203B41FA5}">
                      <a16:colId xmlns:a16="http://schemas.microsoft.com/office/drawing/2014/main" val="332619830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378742347"/>
                    </a:ext>
                  </a:extLst>
                </a:gridCol>
                <a:gridCol w="3200401">
                  <a:extLst>
                    <a:ext uri="{9D8B030D-6E8A-4147-A177-3AD203B41FA5}">
                      <a16:colId xmlns:a16="http://schemas.microsoft.com/office/drawing/2014/main" val="351666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E-MAIL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26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Warner</a:t>
                      </a:r>
                      <a:r>
                        <a:rPr lang="pt-BR" baseline="0" dirty="0"/>
                        <a:t> Brezolin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123123123-12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warner.brezolin@unisal.br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371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 Joaquina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321321321-32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maria.joaquina@unisal.br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01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Joaquim dos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234234234-34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joaquim.santos@unisal.br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691781"/>
                  </a:ext>
                </a:extLst>
              </a:tr>
            </a:tbl>
          </a:graphicData>
        </a:graphic>
      </p:graphicFrame>
      <p:sp>
        <p:nvSpPr>
          <p:cNvPr id="27" name="Forma Livre 26"/>
          <p:cNvSpPr/>
          <p:nvPr/>
        </p:nvSpPr>
        <p:spPr>
          <a:xfrm>
            <a:off x="2045616" y="3912062"/>
            <a:ext cx="1159497" cy="546816"/>
          </a:xfrm>
          <a:custGeom>
            <a:avLst/>
            <a:gdLst>
              <a:gd name="connsiteX0" fmla="*/ 1159497 w 1159497"/>
              <a:gd name="connsiteY0" fmla="*/ 546816 h 546816"/>
              <a:gd name="connsiteX1" fmla="*/ 650450 w 1159497"/>
              <a:gd name="connsiteY1" fmla="*/ 62 h 546816"/>
              <a:gd name="connsiteX2" fmla="*/ 0 w 1159497"/>
              <a:gd name="connsiteY2" fmla="*/ 518536 h 54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9497" h="546816">
                <a:moveTo>
                  <a:pt x="1159497" y="546816"/>
                </a:moveTo>
                <a:cubicBezTo>
                  <a:pt x="1001598" y="275795"/>
                  <a:pt x="843699" y="4775"/>
                  <a:pt x="650450" y="62"/>
                </a:cubicBezTo>
                <a:cubicBezTo>
                  <a:pt x="457200" y="-4651"/>
                  <a:pt x="228600" y="256942"/>
                  <a:pt x="0" y="518536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Forma Livre 27"/>
          <p:cNvSpPr/>
          <p:nvPr/>
        </p:nvSpPr>
        <p:spPr>
          <a:xfrm>
            <a:off x="1989056" y="3327498"/>
            <a:ext cx="3723587" cy="1140807"/>
          </a:xfrm>
          <a:custGeom>
            <a:avLst/>
            <a:gdLst>
              <a:gd name="connsiteX0" fmla="*/ 3723587 w 3723587"/>
              <a:gd name="connsiteY0" fmla="*/ 1140807 h 1140807"/>
              <a:gd name="connsiteX1" fmla="*/ 1027521 w 3723587"/>
              <a:gd name="connsiteY1" fmla="*/ 164 h 1140807"/>
              <a:gd name="connsiteX2" fmla="*/ 0 w 3723587"/>
              <a:gd name="connsiteY2" fmla="*/ 1074820 h 1140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23587" h="1140807">
                <a:moveTo>
                  <a:pt x="3723587" y="1140807"/>
                </a:moveTo>
                <a:cubicBezTo>
                  <a:pt x="2685853" y="575984"/>
                  <a:pt x="1648119" y="11162"/>
                  <a:pt x="1027521" y="164"/>
                </a:cubicBezTo>
                <a:cubicBezTo>
                  <a:pt x="406923" y="-10834"/>
                  <a:pt x="203461" y="531993"/>
                  <a:pt x="0" y="107482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Forma Livre 28"/>
          <p:cNvSpPr/>
          <p:nvPr/>
        </p:nvSpPr>
        <p:spPr>
          <a:xfrm>
            <a:off x="1881287" y="2959993"/>
            <a:ext cx="6074936" cy="1461178"/>
          </a:xfrm>
          <a:custGeom>
            <a:avLst/>
            <a:gdLst>
              <a:gd name="connsiteX0" fmla="*/ 6074936 w 6074936"/>
              <a:gd name="connsiteY0" fmla="*/ 1461178 h 1461178"/>
              <a:gd name="connsiteX1" fmla="*/ 927901 w 6074936"/>
              <a:gd name="connsiteY1" fmla="*/ 23 h 1461178"/>
              <a:gd name="connsiteX2" fmla="*/ 22927 w 6074936"/>
              <a:gd name="connsiteY2" fmla="*/ 1432898 h 146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74936" h="1461178">
                <a:moveTo>
                  <a:pt x="6074936" y="1461178"/>
                </a:moveTo>
                <a:cubicBezTo>
                  <a:pt x="4005752" y="732957"/>
                  <a:pt x="1936569" y="4736"/>
                  <a:pt x="927901" y="23"/>
                </a:cubicBezTo>
                <a:cubicBezTo>
                  <a:pt x="-80767" y="-4690"/>
                  <a:pt x="-28920" y="714104"/>
                  <a:pt x="22927" y="1432898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848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96314" y="1265046"/>
            <a:ext cx="1873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5" dirty="0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Dependência Funcional Parcial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761999" y="1609479"/>
            <a:ext cx="1021080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Os atributos não chave não dependem funcionalmente de toda a chave primária quando esta for composta. Essa solução apresenta problemas de redundância.  O correto seria dividir em outra tabela.</a:t>
            </a:r>
          </a:p>
        </p:txBody>
      </p:sp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687377"/>
              </p:ext>
            </p:extLst>
          </p:nvPr>
        </p:nvGraphicFramePr>
        <p:xfrm>
          <a:off x="2971800" y="4419600"/>
          <a:ext cx="6604000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14336745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764609744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2456101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5593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sng" dirty="0"/>
                        <a:t>CODDISC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17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Banco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809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Física</a:t>
                      </a:r>
                      <a:r>
                        <a:rPr lang="pt-BR" baseline="0" dirty="0"/>
                        <a:t> II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158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Cálculo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144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231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001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Banco de Dados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/>
                        <a:t>7,0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21404"/>
                  </a:ext>
                </a:extLst>
              </a:tr>
            </a:tbl>
          </a:graphicData>
        </a:graphic>
      </p:graphicFrame>
      <p:sp>
        <p:nvSpPr>
          <p:cNvPr id="16" name="Forma Livre 15"/>
          <p:cNvSpPr/>
          <p:nvPr/>
        </p:nvSpPr>
        <p:spPr>
          <a:xfrm>
            <a:off x="4419600" y="3810000"/>
            <a:ext cx="1659117" cy="509077"/>
          </a:xfrm>
          <a:custGeom>
            <a:avLst/>
            <a:gdLst>
              <a:gd name="connsiteX0" fmla="*/ 1659117 w 1659117"/>
              <a:gd name="connsiteY0" fmla="*/ 509077 h 509077"/>
              <a:gd name="connsiteX1" fmla="*/ 471340 w 1659117"/>
              <a:gd name="connsiteY1" fmla="*/ 29 h 509077"/>
              <a:gd name="connsiteX2" fmla="*/ 0 w 1659117"/>
              <a:gd name="connsiteY2" fmla="*/ 490223 h 509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9117" h="509077">
                <a:moveTo>
                  <a:pt x="1659117" y="509077"/>
                </a:moveTo>
                <a:cubicBezTo>
                  <a:pt x="1203488" y="256124"/>
                  <a:pt x="747859" y="3171"/>
                  <a:pt x="471340" y="29"/>
                </a:cubicBezTo>
                <a:cubicBezTo>
                  <a:pt x="194821" y="-3113"/>
                  <a:pt x="97410" y="243555"/>
                  <a:pt x="0" y="49022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524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696314" y="1265046"/>
            <a:ext cx="1873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5" dirty="0">
                <a:solidFill>
                  <a:srgbClr val="FFFFFF"/>
                </a:solidFill>
                <a:latin typeface="Trebuchet MS"/>
                <a:cs typeface="Trebuchet MS"/>
              </a:rPr>
              <a:t>12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Dependência Funcional Parcial</a:t>
            </a:r>
          </a:p>
        </p:txBody>
      </p:sp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05638"/>
              </p:ext>
            </p:extLst>
          </p:nvPr>
        </p:nvGraphicFramePr>
        <p:xfrm>
          <a:off x="2652074" y="3128618"/>
          <a:ext cx="6604000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14336745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764609744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2456101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5593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sng" dirty="0"/>
                        <a:t>CODDISC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173724"/>
                  </a:ext>
                </a:extLst>
              </a:tr>
            </a:tbl>
          </a:graphicData>
        </a:graphic>
      </p:graphicFrame>
      <p:sp>
        <p:nvSpPr>
          <p:cNvPr id="18" name="Retângulo 17"/>
          <p:cNvSpPr/>
          <p:nvPr/>
        </p:nvSpPr>
        <p:spPr>
          <a:xfrm>
            <a:off x="838200" y="1497410"/>
            <a:ext cx="74188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dirty="0"/>
              <a:t>Solução para dependência funcional parcial</a:t>
            </a:r>
          </a:p>
        </p:txBody>
      </p:sp>
      <p:sp>
        <p:nvSpPr>
          <p:cNvPr id="19" name="Forma Livre 18"/>
          <p:cNvSpPr/>
          <p:nvPr/>
        </p:nvSpPr>
        <p:spPr>
          <a:xfrm>
            <a:off x="4172518" y="2514766"/>
            <a:ext cx="1659117" cy="509077"/>
          </a:xfrm>
          <a:custGeom>
            <a:avLst/>
            <a:gdLst>
              <a:gd name="connsiteX0" fmla="*/ 1659117 w 1659117"/>
              <a:gd name="connsiteY0" fmla="*/ 509077 h 509077"/>
              <a:gd name="connsiteX1" fmla="*/ 471340 w 1659117"/>
              <a:gd name="connsiteY1" fmla="*/ 29 h 509077"/>
              <a:gd name="connsiteX2" fmla="*/ 0 w 1659117"/>
              <a:gd name="connsiteY2" fmla="*/ 490223 h 509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9117" h="509077">
                <a:moveTo>
                  <a:pt x="1659117" y="509077"/>
                </a:moveTo>
                <a:cubicBezTo>
                  <a:pt x="1203488" y="256124"/>
                  <a:pt x="747859" y="3171"/>
                  <a:pt x="471340" y="29"/>
                </a:cubicBezTo>
                <a:cubicBezTo>
                  <a:pt x="194821" y="-3113"/>
                  <a:pt x="97410" y="243555"/>
                  <a:pt x="0" y="49022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21" name="Tabe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227704"/>
              </p:ext>
            </p:extLst>
          </p:nvPr>
        </p:nvGraphicFramePr>
        <p:xfrm>
          <a:off x="2667000" y="5105400"/>
          <a:ext cx="4216400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14336745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7646097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5593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sng" dirty="0"/>
                        <a:t>CODDISC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173724"/>
                  </a:ext>
                </a:extLst>
              </a:tr>
            </a:tbl>
          </a:graphicData>
        </a:graphic>
      </p:graphicFrame>
      <p:graphicFrame>
        <p:nvGraphicFramePr>
          <p:cNvPr id="22" name="Tabela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349224"/>
              </p:ext>
            </p:extLst>
          </p:nvPr>
        </p:nvGraphicFramePr>
        <p:xfrm>
          <a:off x="2667000" y="5908821"/>
          <a:ext cx="3987800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764609744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245610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CODDISC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NOMEDISC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173724"/>
                  </a:ext>
                </a:extLst>
              </a:tr>
            </a:tbl>
          </a:graphicData>
        </a:graphic>
      </p:graphicFrame>
      <p:sp>
        <p:nvSpPr>
          <p:cNvPr id="23" name="Seta para Baixo 22"/>
          <p:cNvSpPr/>
          <p:nvPr/>
        </p:nvSpPr>
        <p:spPr>
          <a:xfrm>
            <a:off x="4470400" y="4076253"/>
            <a:ext cx="609600" cy="609600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060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696314" y="1265046"/>
            <a:ext cx="1873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5" dirty="0">
                <a:solidFill>
                  <a:srgbClr val="FFFFFF"/>
                </a:solidFill>
                <a:latin typeface="Trebuchet MS"/>
                <a:cs typeface="Trebuchet MS"/>
              </a:rPr>
              <a:t>13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Dependência Funcional Transitiva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761999" y="1609479"/>
            <a:ext cx="1021080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Os atributos não chave não dependem diretamente da chave primária ou de parte dela, mas sim de outro atributo da entidade, a diferença está na chave primária.</a:t>
            </a:r>
          </a:p>
        </p:txBody>
      </p:sp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072256"/>
              </p:ext>
            </p:extLst>
          </p:nvPr>
        </p:nvGraphicFramePr>
        <p:xfrm>
          <a:off x="1600200" y="4191000"/>
          <a:ext cx="9276487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07844">
                  <a:extLst>
                    <a:ext uri="{9D8B030D-6E8A-4147-A177-3AD203B41FA5}">
                      <a16:colId xmlns:a16="http://schemas.microsoft.com/office/drawing/2014/main" val="1834761076"/>
                    </a:ext>
                  </a:extLst>
                </a:gridCol>
                <a:gridCol w="2758442">
                  <a:extLst>
                    <a:ext uri="{9D8B030D-6E8A-4147-A177-3AD203B41FA5}">
                      <a16:colId xmlns:a16="http://schemas.microsoft.com/office/drawing/2014/main" val="332619830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378742347"/>
                    </a:ext>
                  </a:extLst>
                </a:gridCol>
                <a:gridCol w="3200401">
                  <a:extLst>
                    <a:ext uri="{9D8B030D-6E8A-4147-A177-3AD203B41FA5}">
                      <a16:colId xmlns:a16="http://schemas.microsoft.com/office/drawing/2014/main" val="351666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CHAPA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CODCARGO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26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Warner</a:t>
                      </a:r>
                      <a:r>
                        <a:rPr lang="pt-BR" baseline="0" dirty="0"/>
                        <a:t> Brezolin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Dentista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371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 Joaquina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Programador</a:t>
                      </a:r>
                      <a:r>
                        <a:rPr lang="pt-BR" baseline="0" dirty="0"/>
                        <a:t>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01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Joaquim dos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69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Francisca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Dentista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555624"/>
                  </a:ext>
                </a:extLst>
              </a:tr>
            </a:tbl>
          </a:graphicData>
        </a:graphic>
      </p:graphicFrame>
      <p:sp>
        <p:nvSpPr>
          <p:cNvPr id="13" name="Forma Livre 12"/>
          <p:cNvSpPr/>
          <p:nvPr/>
        </p:nvSpPr>
        <p:spPr>
          <a:xfrm>
            <a:off x="2057400" y="3429000"/>
            <a:ext cx="6161987" cy="607407"/>
          </a:xfrm>
          <a:custGeom>
            <a:avLst/>
            <a:gdLst>
              <a:gd name="connsiteX0" fmla="*/ 3723587 w 3723587"/>
              <a:gd name="connsiteY0" fmla="*/ 1140807 h 1140807"/>
              <a:gd name="connsiteX1" fmla="*/ 1027521 w 3723587"/>
              <a:gd name="connsiteY1" fmla="*/ 164 h 1140807"/>
              <a:gd name="connsiteX2" fmla="*/ 0 w 3723587"/>
              <a:gd name="connsiteY2" fmla="*/ 1074820 h 1140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23587" h="1140807">
                <a:moveTo>
                  <a:pt x="3723587" y="1140807"/>
                </a:moveTo>
                <a:cubicBezTo>
                  <a:pt x="2685853" y="575984"/>
                  <a:pt x="1648119" y="11162"/>
                  <a:pt x="1027521" y="164"/>
                </a:cubicBezTo>
                <a:cubicBezTo>
                  <a:pt x="406923" y="-10834"/>
                  <a:pt x="203461" y="531993"/>
                  <a:pt x="0" y="107482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930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8"/>
          <p:cNvSpPr txBox="1"/>
          <p:nvPr/>
        </p:nvSpPr>
        <p:spPr>
          <a:xfrm>
            <a:off x="1696314" y="1265046"/>
            <a:ext cx="1873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5" dirty="0">
                <a:solidFill>
                  <a:srgbClr val="FFFFFF"/>
                </a:solidFill>
                <a:latin typeface="Trebuchet MS"/>
                <a:cs typeface="Trebuchet MS"/>
              </a:rPr>
              <a:t>12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8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Dependência Funcional Transitiva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838200" y="1497410"/>
            <a:ext cx="78592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dirty="0"/>
              <a:t>Solução para dependência funcional transitiva</a:t>
            </a:r>
          </a:p>
        </p:txBody>
      </p:sp>
      <p:sp>
        <p:nvSpPr>
          <p:cNvPr id="21" name="Forma Livre 20"/>
          <p:cNvSpPr/>
          <p:nvPr/>
        </p:nvSpPr>
        <p:spPr>
          <a:xfrm>
            <a:off x="6053841" y="2856792"/>
            <a:ext cx="1659117" cy="509077"/>
          </a:xfrm>
          <a:custGeom>
            <a:avLst/>
            <a:gdLst>
              <a:gd name="connsiteX0" fmla="*/ 1659117 w 1659117"/>
              <a:gd name="connsiteY0" fmla="*/ 509077 h 509077"/>
              <a:gd name="connsiteX1" fmla="*/ 471340 w 1659117"/>
              <a:gd name="connsiteY1" fmla="*/ 29 h 509077"/>
              <a:gd name="connsiteX2" fmla="*/ 0 w 1659117"/>
              <a:gd name="connsiteY2" fmla="*/ 490223 h 509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9117" h="509077">
                <a:moveTo>
                  <a:pt x="1659117" y="509077"/>
                </a:moveTo>
                <a:cubicBezTo>
                  <a:pt x="1203488" y="256124"/>
                  <a:pt x="747859" y="3171"/>
                  <a:pt x="471340" y="29"/>
                </a:cubicBezTo>
                <a:cubicBezTo>
                  <a:pt x="194821" y="-3113"/>
                  <a:pt x="97410" y="243555"/>
                  <a:pt x="0" y="49022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22" name="Tabela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351217"/>
              </p:ext>
            </p:extLst>
          </p:nvPr>
        </p:nvGraphicFramePr>
        <p:xfrm>
          <a:off x="3945641" y="5130537"/>
          <a:ext cx="4216400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14336745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7646097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5593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CHAPA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sng" dirty="0"/>
                        <a:t>CODCARGO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173724"/>
                  </a:ext>
                </a:extLst>
              </a:tr>
            </a:tbl>
          </a:graphicData>
        </a:graphic>
      </p:graphicFrame>
      <p:graphicFrame>
        <p:nvGraphicFramePr>
          <p:cNvPr id="23" name="Tabela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36115"/>
              </p:ext>
            </p:extLst>
          </p:nvPr>
        </p:nvGraphicFramePr>
        <p:xfrm>
          <a:off x="3945641" y="5933958"/>
          <a:ext cx="3987800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764609744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245610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CODCARGO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173724"/>
                  </a:ext>
                </a:extLst>
              </a:tr>
            </a:tbl>
          </a:graphicData>
        </a:graphic>
      </p:graphicFrame>
      <p:sp>
        <p:nvSpPr>
          <p:cNvPr id="24" name="Seta para Baixo 23"/>
          <p:cNvSpPr/>
          <p:nvPr/>
        </p:nvSpPr>
        <p:spPr>
          <a:xfrm>
            <a:off x="5634741" y="4098167"/>
            <a:ext cx="609600" cy="609600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25" name="Tabela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001009"/>
              </p:ext>
            </p:extLst>
          </p:nvPr>
        </p:nvGraphicFramePr>
        <p:xfrm>
          <a:off x="1447800" y="3408372"/>
          <a:ext cx="9276487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07844">
                  <a:extLst>
                    <a:ext uri="{9D8B030D-6E8A-4147-A177-3AD203B41FA5}">
                      <a16:colId xmlns:a16="http://schemas.microsoft.com/office/drawing/2014/main" val="1834761076"/>
                    </a:ext>
                  </a:extLst>
                </a:gridCol>
                <a:gridCol w="2758442">
                  <a:extLst>
                    <a:ext uri="{9D8B030D-6E8A-4147-A177-3AD203B41FA5}">
                      <a16:colId xmlns:a16="http://schemas.microsoft.com/office/drawing/2014/main" val="332619830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378742347"/>
                    </a:ext>
                  </a:extLst>
                </a:gridCol>
                <a:gridCol w="3200401">
                  <a:extLst>
                    <a:ext uri="{9D8B030D-6E8A-4147-A177-3AD203B41FA5}">
                      <a16:colId xmlns:a16="http://schemas.microsoft.com/office/drawing/2014/main" val="351666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CHAPA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CODCARGO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26707"/>
                  </a:ext>
                </a:extLst>
              </a:tr>
            </a:tbl>
          </a:graphicData>
        </a:graphic>
      </p:graphicFrame>
      <p:sp>
        <p:nvSpPr>
          <p:cNvPr id="26" name="Forma Livre 25"/>
          <p:cNvSpPr/>
          <p:nvPr/>
        </p:nvSpPr>
        <p:spPr>
          <a:xfrm>
            <a:off x="1981201" y="2750774"/>
            <a:ext cx="3928358" cy="509077"/>
          </a:xfrm>
          <a:custGeom>
            <a:avLst/>
            <a:gdLst>
              <a:gd name="connsiteX0" fmla="*/ 1659117 w 1659117"/>
              <a:gd name="connsiteY0" fmla="*/ 509077 h 509077"/>
              <a:gd name="connsiteX1" fmla="*/ 471340 w 1659117"/>
              <a:gd name="connsiteY1" fmla="*/ 29 h 509077"/>
              <a:gd name="connsiteX2" fmla="*/ 0 w 1659117"/>
              <a:gd name="connsiteY2" fmla="*/ 490223 h 509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9117" h="509077">
                <a:moveTo>
                  <a:pt x="1659117" y="509077"/>
                </a:moveTo>
                <a:cubicBezTo>
                  <a:pt x="1203488" y="256124"/>
                  <a:pt x="747859" y="3171"/>
                  <a:pt x="471340" y="29"/>
                </a:cubicBezTo>
                <a:cubicBezTo>
                  <a:pt x="194821" y="-3113"/>
                  <a:pt x="97410" y="243555"/>
                  <a:pt x="0" y="49022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443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96314" y="1265046"/>
            <a:ext cx="1873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5" dirty="0">
                <a:solidFill>
                  <a:srgbClr val="FFFFFF"/>
                </a:solidFill>
                <a:latin typeface="Trebuchet MS"/>
                <a:cs typeface="Trebuchet MS"/>
              </a:rPr>
              <a:t>15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2ª Forma Normal (2FN)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990600" y="1855606"/>
            <a:ext cx="10363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Uma tabela estará na 2FN se ela já estiver na 1FN.</a:t>
            </a:r>
          </a:p>
          <a:p>
            <a:endParaRPr lang="pt-BR" sz="2800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400" dirty="0"/>
              <a:t>Todo atributo que não for chave primária deve ser dependente funcional TOTAL.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pt-BR" sz="2400" dirty="0"/>
              <a:t>Não deve existir dependência funcional parcial.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952588"/>
              </p:ext>
            </p:extLst>
          </p:nvPr>
        </p:nvGraphicFramePr>
        <p:xfrm>
          <a:off x="2667000" y="4669352"/>
          <a:ext cx="6604000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14336745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764609744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2456101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5593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sng" dirty="0"/>
                        <a:t>CODDISC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173724"/>
                  </a:ext>
                </a:extLst>
              </a:tr>
            </a:tbl>
          </a:graphicData>
        </a:graphic>
      </p:graphicFrame>
      <p:sp>
        <p:nvSpPr>
          <p:cNvPr id="14" name="Forma Livre 13"/>
          <p:cNvSpPr/>
          <p:nvPr/>
        </p:nvSpPr>
        <p:spPr>
          <a:xfrm>
            <a:off x="4187444" y="4310779"/>
            <a:ext cx="1659117" cy="253798"/>
          </a:xfrm>
          <a:custGeom>
            <a:avLst/>
            <a:gdLst>
              <a:gd name="connsiteX0" fmla="*/ 1659117 w 1659117"/>
              <a:gd name="connsiteY0" fmla="*/ 509077 h 509077"/>
              <a:gd name="connsiteX1" fmla="*/ 471340 w 1659117"/>
              <a:gd name="connsiteY1" fmla="*/ 29 h 509077"/>
              <a:gd name="connsiteX2" fmla="*/ 0 w 1659117"/>
              <a:gd name="connsiteY2" fmla="*/ 490223 h 509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9117" h="509077">
                <a:moveTo>
                  <a:pt x="1659117" y="509077"/>
                </a:moveTo>
                <a:cubicBezTo>
                  <a:pt x="1203488" y="256124"/>
                  <a:pt x="747859" y="3171"/>
                  <a:pt x="471340" y="29"/>
                </a:cubicBezTo>
                <a:cubicBezTo>
                  <a:pt x="194821" y="-3113"/>
                  <a:pt x="97410" y="243555"/>
                  <a:pt x="0" y="490223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18944"/>
              </p:ext>
            </p:extLst>
          </p:nvPr>
        </p:nvGraphicFramePr>
        <p:xfrm>
          <a:off x="1524000" y="6096000"/>
          <a:ext cx="9276487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07844">
                  <a:extLst>
                    <a:ext uri="{9D8B030D-6E8A-4147-A177-3AD203B41FA5}">
                      <a16:colId xmlns:a16="http://schemas.microsoft.com/office/drawing/2014/main" val="1834761076"/>
                    </a:ext>
                  </a:extLst>
                </a:gridCol>
                <a:gridCol w="2758442">
                  <a:extLst>
                    <a:ext uri="{9D8B030D-6E8A-4147-A177-3AD203B41FA5}">
                      <a16:colId xmlns:a16="http://schemas.microsoft.com/office/drawing/2014/main" val="332619830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378742347"/>
                    </a:ext>
                  </a:extLst>
                </a:gridCol>
                <a:gridCol w="3200401">
                  <a:extLst>
                    <a:ext uri="{9D8B030D-6E8A-4147-A177-3AD203B41FA5}">
                      <a16:colId xmlns:a16="http://schemas.microsoft.com/office/drawing/2014/main" val="351666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E-MAIL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26707"/>
                  </a:ext>
                </a:extLst>
              </a:tr>
            </a:tbl>
          </a:graphicData>
        </a:graphic>
      </p:graphicFrame>
      <p:sp>
        <p:nvSpPr>
          <p:cNvPr id="16" name="Forma Livre 15"/>
          <p:cNvSpPr/>
          <p:nvPr/>
        </p:nvSpPr>
        <p:spPr>
          <a:xfrm>
            <a:off x="1888229" y="5889634"/>
            <a:ext cx="1159497" cy="169443"/>
          </a:xfrm>
          <a:custGeom>
            <a:avLst/>
            <a:gdLst>
              <a:gd name="connsiteX0" fmla="*/ 1159497 w 1159497"/>
              <a:gd name="connsiteY0" fmla="*/ 546816 h 546816"/>
              <a:gd name="connsiteX1" fmla="*/ 650450 w 1159497"/>
              <a:gd name="connsiteY1" fmla="*/ 62 h 546816"/>
              <a:gd name="connsiteX2" fmla="*/ 0 w 1159497"/>
              <a:gd name="connsiteY2" fmla="*/ 518536 h 54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9497" h="546816">
                <a:moveTo>
                  <a:pt x="1159497" y="546816"/>
                </a:moveTo>
                <a:cubicBezTo>
                  <a:pt x="1001598" y="275795"/>
                  <a:pt x="843699" y="4775"/>
                  <a:pt x="650450" y="62"/>
                </a:cubicBezTo>
                <a:cubicBezTo>
                  <a:pt x="457200" y="-4651"/>
                  <a:pt x="228600" y="256942"/>
                  <a:pt x="0" y="518536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Forma Livre 16"/>
          <p:cNvSpPr/>
          <p:nvPr/>
        </p:nvSpPr>
        <p:spPr>
          <a:xfrm>
            <a:off x="1752601" y="5715000"/>
            <a:ext cx="3802656" cy="353505"/>
          </a:xfrm>
          <a:custGeom>
            <a:avLst/>
            <a:gdLst>
              <a:gd name="connsiteX0" fmla="*/ 3723587 w 3723587"/>
              <a:gd name="connsiteY0" fmla="*/ 1140807 h 1140807"/>
              <a:gd name="connsiteX1" fmla="*/ 1027521 w 3723587"/>
              <a:gd name="connsiteY1" fmla="*/ 164 h 1140807"/>
              <a:gd name="connsiteX2" fmla="*/ 0 w 3723587"/>
              <a:gd name="connsiteY2" fmla="*/ 1074820 h 1140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23587" h="1140807">
                <a:moveTo>
                  <a:pt x="3723587" y="1140807"/>
                </a:moveTo>
                <a:cubicBezTo>
                  <a:pt x="2685853" y="575984"/>
                  <a:pt x="1648119" y="11162"/>
                  <a:pt x="1027521" y="164"/>
                </a:cubicBezTo>
                <a:cubicBezTo>
                  <a:pt x="406923" y="-10834"/>
                  <a:pt x="203461" y="531993"/>
                  <a:pt x="0" y="107482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Forma Livre 17"/>
          <p:cNvSpPr/>
          <p:nvPr/>
        </p:nvSpPr>
        <p:spPr>
          <a:xfrm>
            <a:off x="1696314" y="5568591"/>
            <a:ext cx="6102522" cy="452779"/>
          </a:xfrm>
          <a:custGeom>
            <a:avLst/>
            <a:gdLst>
              <a:gd name="connsiteX0" fmla="*/ 6074936 w 6074936"/>
              <a:gd name="connsiteY0" fmla="*/ 1461178 h 1461178"/>
              <a:gd name="connsiteX1" fmla="*/ 927901 w 6074936"/>
              <a:gd name="connsiteY1" fmla="*/ 23 h 1461178"/>
              <a:gd name="connsiteX2" fmla="*/ 22927 w 6074936"/>
              <a:gd name="connsiteY2" fmla="*/ 1432898 h 146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74936" h="1461178">
                <a:moveTo>
                  <a:pt x="6074936" y="1461178"/>
                </a:moveTo>
                <a:cubicBezTo>
                  <a:pt x="4005752" y="732957"/>
                  <a:pt x="1936569" y="4736"/>
                  <a:pt x="927901" y="23"/>
                </a:cubicBezTo>
                <a:cubicBezTo>
                  <a:pt x="-80767" y="-4690"/>
                  <a:pt x="-28920" y="714104"/>
                  <a:pt x="22927" y="1432898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9807019" y="4590209"/>
            <a:ext cx="167639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18000" dirty="0">
                <a:solidFill>
                  <a:srgbClr val="00B050"/>
                </a:solidFill>
                <a:latin typeface="Wingdings" panose="05000000000000000000" pitchFamily="2" charset="2"/>
              </a:rPr>
              <a:t></a:t>
            </a:r>
            <a:endParaRPr lang="pt-BR" sz="18000" dirty="0">
              <a:solidFill>
                <a:srgbClr val="00B050"/>
              </a:solidFill>
              <a:latin typeface="Wingdings" panose="05000000000000000000" pitchFamily="2" charset="2"/>
              <a:cs typeface="Wingdings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8178386" y="3311989"/>
            <a:ext cx="1651414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18000" dirty="0">
                <a:solidFill>
                  <a:srgbClr val="C00000"/>
                </a:solidFill>
                <a:latin typeface="Wingdings"/>
                <a:cs typeface="Wingdings"/>
              </a:rPr>
              <a:t></a:t>
            </a:r>
            <a:endParaRPr lang="pt-BR" sz="18000" dirty="0"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775387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96314" y="1265046"/>
            <a:ext cx="1873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5" dirty="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endParaRPr sz="1200">
              <a:latin typeface="Trebuchet MS"/>
              <a:cs typeface="Trebuchet MS"/>
            </a:endParaRPr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040348"/>
              </p:ext>
            </p:extLst>
          </p:nvPr>
        </p:nvGraphicFramePr>
        <p:xfrm>
          <a:off x="2743200" y="2667000"/>
          <a:ext cx="6604000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14336745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764609744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2456101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5593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sng" dirty="0"/>
                        <a:t>CODDISC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173724"/>
                  </a:ext>
                </a:extLst>
              </a:tr>
            </a:tbl>
          </a:graphicData>
        </a:graphic>
      </p:graphicFrame>
      <p:sp>
        <p:nvSpPr>
          <p:cNvPr id="14" name="Forma Livre 13"/>
          <p:cNvSpPr/>
          <p:nvPr/>
        </p:nvSpPr>
        <p:spPr>
          <a:xfrm>
            <a:off x="4263644" y="2185090"/>
            <a:ext cx="1659117" cy="377135"/>
          </a:xfrm>
          <a:custGeom>
            <a:avLst/>
            <a:gdLst>
              <a:gd name="connsiteX0" fmla="*/ 1659117 w 1659117"/>
              <a:gd name="connsiteY0" fmla="*/ 509077 h 509077"/>
              <a:gd name="connsiteX1" fmla="*/ 471340 w 1659117"/>
              <a:gd name="connsiteY1" fmla="*/ 29 h 509077"/>
              <a:gd name="connsiteX2" fmla="*/ 0 w 1659117"/>
              <a:gd name="connsiteY2" fmla="*/ 490223 h 509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9117" h="509077">
                <a:moveTo>
                  <a:pt x="1659117" y="509077"/>
                </a:moveTo>
                <a:cubicBezTo>
                  <a:pt x="1203488" y="256124"/>
                  <a:pt x="747859" y="3171"/>
                  <a:pt x="471340" y="29"/>
                </a:cubicBezTo>
                <a:cubicBezTo>
                  <a:pt x="194821" y="-3113"/>
                  <a:pt x="97410" y="243555"/>
                  <a:pt x="0" y="49022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021858"/>
              </p:ext>
            </p:extLst>
          </p:nvPr>
        </p:nvGraphicFramePr>
        <p:xfrm>
          <a:off x="2758126" y="4643782"/>
          <a:ext cx="4216400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14336745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7646097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5593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sng" dirty="0"/>
                        <a:t>CODDISC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173724"/>
                  </a:ext>
                </a:extLst>
              </a:tr>
            </a:tbl>
          </a:graphicData>
        </a:graphic>
      </p:graphicFrame>
      <p:graphicFrame>
        <p:nvGraphicFramePr>
          <p:cNvPr id="16" name="Tabe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075644"/>
              </p:ext>
            </p:extLst>
          </p:nvPr>
        </p:nvGraphicFramePr>
        <p:xfrm>
          <a:off x="2758126" y="5447203"/>
          <a:ext cx="3987800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764609744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245610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CODDISC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NOMEDISC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173724"/>
                  </a:ext>
                </a:extLst>
              </a:tr>
            </a:tbl>
          </a:graphicData>
        </a:graphic>
      </p:graphicFrame>
      <p:sp>
        <p:nvSpPr>
          <p:cNvPr id="17" name="Seta para Baixo 16"/>
          <p:cNvSpPr/>
          <p:nvPr/>
        </p:nvSpPr>
        <p:spPr>
          <a:xfrm>
            <a:off x="4561526" y="3614635"/>
            <a:ext cx="609600" cy="609600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2ª Forma Normal (2FN)</a:t>
            </a:r>
          </a:p>
        </p:txBody>
      </p:sp>
    </p:spTree>
    <p:extLst>
      <p:ext uri="{BB962C8B-B14F-4D97-AF65-F5344CB8AC3E}">
        <p14:creationId xmlns:p14="http://schemas.microsoft.com/office/powerpoint/2010/main" val="747421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96314" y="1265046"/>
            <a:ext cx="1873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75" dirty="0">
                <a:solidFill>
                  <a:srgbClr val="FFFFFF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3ª Forma Normal (3FN)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777710" y="1623619"/>
            <a:ext cx="1013460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Uma tabela estará na 3FN se ela já estiver na 2FN.</a:t>
            </a:r>
          </a:p>
          <a:p>
            <a:r>
              <a:rPr lang="pt-BR" sz="2800" dirty="0"/>
              <a:t>E NÃO deve existir dependência funcional transitiva entre atributos não chave.</a:t>
            </a:r>
          </a:p>
        </p:txBody>
      </p:sp>
      <p:sp>
        <p:nvSpPr>
          <p:cNvPr id="12" name="Forma Livre 11"/>
          <p:cNvSpPr/>
          <p:nvPr/>
        </p:nvSpPr>
        <p:spPr>
          <a:xfrm>
            <a:off x="6663441" y="3124844"/>
            <a:ext cx="1659117" cy="509077"/>
          </a:xfrm>
          <a:custGeom>
            <a:avLst/>
            <a:gdLst>
              <a:gd name="connsiteX0" fmla="*/ 1659117 w 1659117"/>
              <a:gd name="connsiteY0" fmla="*/ 509077 h 509077"/>
              <a:gd name="connsiteX1" fmla="*/ 471340 w 1659117"/>
              <a:gd name="connsiteY1" fmla="*/ 29 h 509077"/>
              <a:gd name="connsiteX2" fmla="*/ 0 w 1659117"/>
              <a:gd name="connsiteY2" fmla="*/ 490223 h 509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9117" h="509077">
                <a:moveTo>
                  <a:pt x="1659117" y="509077"/>
                </a:moveTo>
                <a:cubicBezTo>
                  <a:pt x="1203488" y="256124"/>
                  <a:pt x="747859" y="3171"/>
                  <a:pt x="471340" y="29"/>
                </a:cubicBezTo>
                <a:cubicBezTo>
                  <a:pt x="194821" y="-3113"/>
                  <a:pt x="97410" y="243555"/>
                  <a:pt x="0" y="49022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983416"/>
              </p:ext>
            </p:extLst>
          </p:nvPr>
        </p:nvGraphicFramePr>
        <p:xfrm>
          <a:off x="4555241" y="5398589"/>
          <a:ext cx="4216400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14336745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7646097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5593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CHAPA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sng" dirty="0"/>
                        <a:t>CODCARGO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173724"/>
                  </a:ext>
                </a:extLst>
              </a:tr>
            </a:tbl>
          </a:graphicData>
        </a:graphic>
      </p:graphicFrame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445349"/>
              </p:ext>
            </p:extLst>
          </p:nvPr>
        </p:nvGraphicFramePr>
        <p:xfrm>
          <a:off x="4555241" y="6202010"/>
          <a:ext cx="3987800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764609744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245610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CODCARGO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173724"/>
                  </a:ext>
                </a:extLst>
              </a:tr>
            </a:tbl>
          </a:graphicData>
        </a:graphic>
      </p:graphicFrame>
      <p:sp>
        <p:nvSpPr>
          <p:cNvPr id="15" name="Seta para Baixo 14"/>
          <p:cNvSpPr/>
          <p:nvPr/>
        </p:nvSpPr>
        <p:spPr>
          <a:xfrm>
            <a:off x="6244341" y="4366219"/>
            <a:ext cx="609600" cy="609600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6" name="Tabe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365363"/>
              </p:ext>
            </p:extLst>
          </p:nvPr>
        </p:nvGraphicFramePr>
        <p:xfrm>
          <a:off x="2057400" y="3676424"/>
          <a:ext cx="9276487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07844">
                  <a:extLst>
                    <a:ext uri="{9D8B030D-6E8A-4147-A177-3AD203B41FA5}">
                      <a16:colId xmlns:a16="http://schemas.microsoft.com/office/drawing/2014/main" val="1834761076"/>
                    </a:ext>
                  </a:extLst>
                </a:gridCol>
                <a:gridCol w="2758442">
                  <a:extLst>
                    <a:ext uri="{9D8B030D-6E8A-4147-A177-3AD203B41FA5}">
                      <a16:colId xmlns:a16="http://schemas.microsoft.com/office/drawing/2014/main" val="332619830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378742347"/>
                    </a:ext>
                  </a:extLst>
                </a:gridCol>
                <a:gridCol w="3200401">
                  <a:extLst>
                    <a:ext uri="{9D8B030D-6E8A-4147-A177-3AD203B41FA5}">
                      <a16:colId xmlns:a16="http://schemas.microsoft.com/office/drawing/2014/main" val="351666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u="sng" dirty="0"/>
                        <a:t>CHAPA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CODCARGO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26707"/>
                  </a:ext>
                </a:extLst>
              </a:tr>
            </a:tbl>
          </a:graphicData>
        </a:graphic>
      </p:graphicFrame>
      <p:sp>
        <p:nvSpPr>
          <p:cNvPr id="17" name="Forma Livre 16"/>
          <p:cNvSpPr/>
          <p:nvPr/>
        </p:nvSpPr>
        <p:spPr>
          <a:xfrm>
            <a:off x="2590801" y="3018826"/>
            <a:ext cx="3928358" cy="509077"/>
          </a:xfrm>
          <a:custGeom>
            <a:avLst/>
            <a:gdLst>
              <a:gd name="connsiteX0" fmla="*/ 1659117 w 1659117"/>
              <a:gd name="connsiteY0" fmla="*/ 509077 h 509077"/>
              <a:gd name="connsiteX1" fmla="*/ 471340 w 1659117"/>
              <a:gd name="connsiteY1" fmla="*/ 29 h 509077"/>
              <a:gd name="connsiteX2" fmla="*/ 0 w 1659117"/>
              <a:gd name="connsiteY2" fmla="*/ 490223 h 509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9117" h="509077">
                <a:moveTo>
                  <a:pt x="1659117" y="509077"/>
                </a:moveTo>
                <a:cubicBezTo>
                  <a:pt x="1203488" y="256124"/>
                  <a:pt x="747859" y="3171"/>
                  <a:pt x="471340" y="29"/>
                </a:cubicBezTo>
                <a:cubicBezTo>
                  <a:pt x="194821" y="-3113"/>
                  <a:pt x="97410" y="243555"/>
                  <a:pt x="0" y="49022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6789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Normalização - Exemplo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837581"/>
              </p:ext>
            </p:extLst>
          </p:nvPr>
        </p:nvGraphicFramePr>
        <p:xfrm>
          <a:off x="609600" y="1981200"/>
          <a:ext cx="11049000" cy="3108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69568231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84831372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8228785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194958097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302657245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38083383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83571754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839026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Filmes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Entrega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Cep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15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Warner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Bee</a:t>
                      </a:r>
                      <a:r>
                        <a:rPr lang="pt-BR" baseline="0" dirty="0"/>
                        <a:t> </a:t>
                      </a:r>
                      <a:r>
                        <a:rPr lang="pt-BR" baseline="0" dirty="0" err="1"/>
                        <a:t>Movie</a:t>
                      </a:r>
                      <a:endParaRPr lang="pt-BR" baseline="0" dirty="0"/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Madagascar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Steve </a:t>
                      </a:r>
                      <a:r>
                        <a:rPr lang="pt-BR" dirty="0" err="1"/>
                        <a:t>Hickner</a:t>
                      </a:r>
                      <a:endParaRPr lang="pt-BR" dirty="0"/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Eric </a:t>
                      </a:r>
                      <a:r>
                        <a:rPr lang="pt-BR" dirty="0" err="1"/>
                        <a:t>Darnell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10/09/2020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12/09/2020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  <a:r>
                        <a:rPr lang="pt-BR" baseline="0" dirty="0"/>
                        <a:t> 1</a:t>
                      </a:r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Rua 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12600000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12600000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Lorena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Lorena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7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Bee</a:t>
                      </a:r>
                      <a:r>
                        <a:rPr lang="pt-BR" baseline="0" dirty="0"/>
                        <a:t> </a:t>
                      </a:r>
                      <a:r>
                        <a:rPr lang="pt-BR" baseline="0" dirty="0" err="1"/>
                        <a:t>Movie</a:t>
                      </a:r>
                      <a:endParaRPr lang="pt-BR" baseline="0" dirty="0"/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Madagascar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Steve </a:t>
                      </a:r>
                      <a:r>
                        <a:rPr lang="pt-BR" dirty="0" err="1"/>
                        <a:t>Hickner</a:t>
                      </a:r>
                      <a:endParaRPr lang="pt-BR" dirty="0"/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Eric </a:t>
                      </a:r>
                      <a:r>
                        <a:rPr lang="pt-BR" dirty="0" err="1"/>
                        <a:t>Darnell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18/09/2020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18/09/2020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20/09/2020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 2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Rua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12700000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12700000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Guará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Guará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28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Bee</a:t>
                      </a:r>
                      <a:r>
                        <a:rPr lang="pt-BR" baseline="0" dirty="0"/>
                        <a:t> </a:t>
                      </a:r>
                      <a:r>
                        <a:rPr lang="pt-BR" baseline="0" dirty="0" err="1"/>
                        <a:t>Movie</a:t>
                      </a:r>
                      <a:endParaRPr lang="pt-BR" baseline="0" dirty="0"/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Madagascar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Steve </a:t>
                      </a:r>
                      <a:r>
                        <a:rPr lang="pt-BR" dirty="0" err="1"/>
                        <a:t>Hickner</a:t>
                      </a:r>
                      <a:endParaRPr lang="pt-BR" dirty="0"/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Eric </a:t>
                      </a:r>
                      <a:r>
                        <a:rPr lang="pt-BR" dirty="0" err="1"/>
                        <a:t>Darnell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03/09/2020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03/09/2020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05/09/2020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05/09/2020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  <a:r>
                        <a:rPr lang="pt-BR" baseline="0" dirty="0"/>
                        <a:t> 3</a:t>
                      </a:r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Rua 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12500000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12500000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Canas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Canas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976563"/>
                  </a:ext>
                </a:extLst>
              </a:tr>
            </a:tbl>
          </a:graphicData>
        </a:graphic>
      </p:graphicFrame>
      <p:sp>
        <p:nvSpPr>
          <p:cNvPr id="7" name="Retângulo 6"/>
          <p:cNvSpPr/>
          <p:nvPr/>
        </p:nvSpPr>
        <p:spPr>
          <a:xfrm>
            <a:off x="838200" y="5638800"/>
            <a:ext cx="101346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Está na 1FN?</a:t>
            </a:r>
          </a:p>
          <a:p>
            <a:r>
              <a:rPr lang="pt-BR" sz="2800" dirty="0"/>
              <a:t>Quais são as ações necessárias?</a:t>
            </a:r>
          </a:p>
        </p:txBody>
      </p:sp>
    </p:spTree>
    <p:extLst>
      <p:ext uri="{BB962C8B-B14F-4D97-AF65-F5344CB8AC3E}">
        <p14:creationId xmlns:p14="http://schemas.microsoft.com/office/powerpoint/2010/main" val="3091382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624173"/>
              </p:ext>
            </p:extLst>
          </p:nvPr>
        </p:nvGraphicFramePr>
        <p:xfrm>
          <a:off x="609600" y="1981200"/>
          <a:ext cx="11049000" cy="3108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69568231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84831372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8228785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194958097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302657245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38083383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83571754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839026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Filmes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Entrega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Cep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15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Warner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Bee</a:t>
                      </a:r>
                      <a:r>
                        <a:rPr lang="pt-BR" baseline="0" dirty="0"/>
                        <a:t> </a:t>
                      </a:r>
                      <a:r>
                        <a:rPr lang="pt-BR" baseline="0" dirty="0" err="1"/>
                        <a:t>Movie</a:t>
                      </a:r>
                      <a:endParaRPr lang="pt-BR" baseline="0" dirty="0"/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Madagascar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Steve </a:t>
                      </a:r>
                      <a:r>
                        <a:rPr lang="pt-BR" dirty="0" err="1"/>
                        <a:t>Hickner</a:t>
                      </a:r>
                      <a:endParaRPr lang="pt-BR" dirty="0"/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Eric </a:t>
                      </a:r>
                      <a:r>
                        <a:rPr lang="pt-BR" dirty="0" err="1"/>
                        <a:t>Darnell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10/09/2020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12/09/2020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  <a:r>
                        <a:rPr lang="pt-BR" baseline="0" dirty="0"/>
                        <a:t> 1</a:t>
                      </a:r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Rua 1</a:t>
                      </a:r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12600000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12600000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Lorena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Lorena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7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Bee</a:t>
                      </a:r>
                      <a:r>
                        <a:rPr lang="pt-BR" baseline="0" dirty="0"/>
                        <a:t> </a:t>
                      </a:r>
                      <a:r>
                        <a:rPr lang="pt-BR" baseline="0" dirty="0" err="1"/>
                        <a:t>Movie</a:t>
                      </a:r>
                      <a:endParaRPr lang="pt-BR" baseline="0" dirty="0"/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Madagascar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Steve </a:t>
                      </a:r>
                      <a:r>
                        <a:rPr lang="pt-BR" dirty="0" err="1"/>
                        <a:t>Hickner</a:t>
                      </a:r>
                      <a:endParaRPr lang="pt-BR" dirty="0"/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Eric </a:t>
                      </a:r>
                      <a:r>
                        <a:rPr lang="pt-BR" dirty="0" err="1"/>
                        <a:t>Darnell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18/09/2020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18/09/2020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20/09/2020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 2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Rua 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12700000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12700000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Guará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Guará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28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Bee</a:t>
                      </a:r>
                      <a:r>
                        <a:rPr lang="pt-BR" baseline="0" dirty="0"/>
                        <a:t> </a:t>
                      </a:r>
                      <a:r>
                        <a:rPr lang="pt-BR" baseline="0" dirty="0" err="1"/>
                        <a:t>Movie</a:t>
                      </a:r>
                      <a:endParaRPr lang="pt-BR" baseline="0" dirty="0"/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Madagascar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Steve </a:t>
                      </a:r>
                      <a:r>
                        <a:rPr lang="pt-BR" dirty="0" err="1"/>
                        <a:t>Hickner</a:t>
                      </a:r>
                      <a:endParaRPr lang="pt-BR" dirty="0"/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Eric </a:t>
                      </a:r>
                      <a:r>
                        <a:rPr lang="pt-BR" dirty="0" err="1"/>
                        <a:t>Darnell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03/09/2020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03/09/2020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05/09/2020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05/09/2020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  <a:r>
                        <a:rPr lang="pt-BR" baseline="0" dirty="0"/>
                        <a:t> 3</a:t>
                      </a:r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Rua 3</a:t>
                      </a:r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12500000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12500000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Canas</a:t>
                      </a:r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Canas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976563"/>
                  </a:ext>
                </a:extLst>
              </a:tr>
            </a:tbl>
          </a:graphicData>
        </a:graphic>
      </p:graphicFrame>
      <p:sp>
        <p:nvSpPr>
          <p:cNvPr id="6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Normalização - Exemplo</a:t>
            </a:r>
          </a:p>
        </p:txBody>
      </p:sp>
    </p:spTree>
    <p:extLst>
      <p:ext uri="{BB962C8B-B14F-4D97-AF65-F5344CB8AC3E}">
        <p14:creationId xmlns:p14="http://schemas.microsoft.com/office/powerpoint/2010/main" val="290284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Normalização - Exemplo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271278"/>
              </p:ext>
            </p:extLst>
          </p:nvPr>
        </p:nvGraphicFramePr>
        <p:xfrm>
          <a:off x="838200" y="1527341"/>
          <a:ext cx="5286376" cy="14782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3149167566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695682317"/>
                    </a:ext>
                  </a:extLst>
                </a:gridCol>
                <a:gridCol w="1135592">
                  <a:extLst>
                    <a:ext uri="{9D8B030D-6E8A-4147-A177-3AD203B41FA5}">
                      <a16:colId xmlns:a16="http://schemas.microsoft.com/office/drawing/2014/main" val="2380833832"/>
                    </a:ext>
                  </a:extLst>
                </a:gridCol>
                <a:gridCol w="1135592">
                  <a:extLst>
                    <a:ext uri="{9D8B030D-6E8A-4147-A177-3AD203B41FA5}">
                      <a16:colId xmlns:a16="http://schemas.microsoft.com/office/drawing/2014/main" val="2083571754"/>
                    </a:ext>
                  </a:extLst>
                </a:gridCol>
                <a:gridCol w="1135592">
                  <a:extLst>
                    <a:ext uri="{9D8B030D-6E8A-4147-A177-3AD203B41FA5}">
                      <a16:colId xmlns:a16="http://schemas.microsoft.com/office/drawing/2014/main" val="839026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u="sng" dirty="0" err="1"/>
                        <a:t>IDCli</a:t>
                      </a:r>
                      <a:endParaRPr lang="pt-BR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none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Cep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15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Warner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  <a:r>
                        <a:rPr lang="pt-BR" baseline="0" dirty="0"/>
                        <a:t>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12600000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Lorena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7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 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12700000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Guará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28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  <a:r>
                        <a:rPr lang="pt-BR" baseline="0" dirty="0"/>
                        <a:t>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12500000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Canas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976563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7240"/>
              </p:ext>
            </p:extLst>
          </p:nvPr>
        </p:nvGraphicFramePr>
        <p:xfrm>
          <a:off x="4886577" y="3429000"/>
          <a:ext cx="6905625" cy="3108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69568231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84831372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8228785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194958097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302657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u="sng" dirty="0" err="1"/>
                        <a:t>IDCli</a:t>
                      </a:r>
                      <a:endParaRPr lang="pt-BR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Filmes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Entrega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15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Bee</a:t>
                      </a:r>
                      <a:r>
                        <a:rPr lang="pt-BR" baseline="0" dirty="0"/>
                        <a:t> </a:t>
                      </a:r>
                      <a:r>
                        <a:rPr lang="pt-BR" baseline="0" dirty="0" err="1"/>
                        <a:t>Movie</a:t>
                      </a:r>
                      <a:endParaRPr lang="pt-BR" baseline="0" dirty="0"/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Madagascar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Steve </a:t>
                      </a:r>
                      <a:r>
                        <a:rPr lang="pt-BR" dirty="0" err="1"/>
                        <a:t>Hickner</a:t>
                      </a:r>
                      <a:endParaRPr lang="pt-BR" dirty="0"/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Eric </a:t>
                      </a:r>
                      <a:r>
                        <a:rPr lang="pt-BR" dirty="0" err="1"/>
                        <a:t>Darnell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10/09/2020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12/09/2020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7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Bee</a:t>
                      </a:r>
                      <a:r>
                        <a:rPr lang="pt-BR" baseline="0" dirty="0"/>
                        <a:t> </a:t>
                      </a:r>
                      <a:r>
                        <a:rPr lang="pt-BR" baseline="0" dirty="0" err="1"/>
                        <a:t>Movie</a:t>
                      </a:r>
                      <a:endParaRPr lang="pt-BR" baseline="0" dirty="0"/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Madagascar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Steve </a:t>
                      </a:r>
                      <a:r>
                        <a:rPr lang="pt-BR" dirty="0" err="1"/>
                        <a:t>Hickner</a:t>
                      </a:r>
                      <a:endParaRPr lang="pt-BR" dirty="0"/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Eric </a:t>
                      </a:r>
                      <a:r>
                        <a:rPr lang="pt-BR" dirty="0" err="1"/>
                        <a:t>Darnell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18/09/2020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18/09/2020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20/09/2020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28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Bee</a:t>
                      </a:r>
                      <a:r>
                        <a:rPr lang="pt-BR" baseline="0" dirty="0"/>
                        <a:t> </a:t>
                      </a:r>
                      <a:r>
                        <a:rPr lang="pt-BR" baseline="0" dirty="0" err="1"/>
                        <a:t>Movie</a:t>
                      </a:r>
                      <a:endParaRPr lang="pt-BR" baseline="0" dirty="0"/>
                    </a:p>
                    <a:p>
                      <a:endParaRPr lang="pt-BR" baseline="0" dirty="0"/>
                    </a:p>
                    <a:p>
                      <a:r>
                        <a:rPr lang="pt-BR" baseline="0" dirty="0"/>
                        <a:t>Madagascar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Steve </a:t>
                      </a:r>
                      <a:r>
                        <a:rPr lang="pt-BR" dirty="0" err="1"/>
                        <a:t>Hickner</a:t>
                      </a:r>
                      <a:endParaRPr lang="pt-BR" dirty="0"/>
                    </a:p>
                    <a:p>
                      <a:endParaRPr lang="pt-BR" dirty="0"/>
                    </a:p>
                    <a:p>
                      <a:r>
                        <a:rPr lang="pt-BR" dirty="0"/>
                        <a:t>Eric </a:t>
                      </a:r>
                      <a:r>
                        <a:rPr lang="pt-BR" dirty="0" err="1"/>
                        <a:t>Darnell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03/09/2020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03/09/2020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05/09/2020</a:t>
                      </a:r>
                    </a:p>
                    <a:p>
                      <a:endParaRPr lang="pt-BR" dirty="0"/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05/09/2020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976563"/>
                  </a:ext>
                </a:extLst>
              </a:tr>
            </a:tbl>
          </a:graphicData>
        </a:graphic>
      </p:graphicFrame>
      <p:sp>
        <p:nvSpPr>
          <p:cNvPr id="7" name="Retângulo 6"/>
          <p:cNvSpPr/>
          <p:nvPr/>
        </p:nvSpPr>
        <p:spPr>
          <a:xfrm>
            <a:off x="838200" y="5638800"/>
            <a:ext cx="101346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Está na 1FN? </a:t>
            </a:r>
            <a:r>
              <a:rPr lang="pt-BR" sz="2800" dirty="0">
                <a:solidFill>
                  <a:srgbClr val="00B050"/>
                </a:solidFill>
              </a:rPr>
              <a:t>Sim</a:t>
            </a:r>
          </a:p>
          <a:p>
            <a:r>
              <a:rPr lang="pt-BR" sz="2800" dirty="0"/>
              <a:t>Está na 2FN?</a:t>
            </a:r>
          </a:p>
        </p:txBody>
      </p:sp>
    </p:spTree>
    <p:extLst>
      <p:ext uri="{BB962C8B-B14F-4D97-AF65-F5344CB8AC3E}">
        <p14:creationId xmlns:p14="http://schemas.microsoft.com/office/powerpoint/2010/main" val="96500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Normalização - Exemplo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04447"/>
              </p:ext>
            </p:extLst>
          </p:nvPr>
        </p:nvGraphicFramePr>
        <p:xfrm>
          <a:off x="6124575" y="3733800"/>
          <a:ext cx="5305425" cy="25908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69568231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84831372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194958097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302657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u="sng" dirty="0" err="1"/>
                        <a:t>IDCli</a:t>
                      </a:r>
                      <a:endParaRPr lang="pt-BR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sng" dirty="0" err="1"/>
                        <a:t>IDFil</a:t>
                      </a:r>
                      <a:endParaRPr lang="pt-BR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Entrega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15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pt-BR" baseline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7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aseline="0" dirty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10/09/2020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12/09/2020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14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pt-BR" baseline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18/09/2020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28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aseline="0" dirty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18/09/2020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20/09/2020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6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pt-BR" baseline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03/09/2020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05/09/2020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976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aseline="0" dirty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03/09/2020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05/09/2020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538895"/>
                  </a:ext>
                </a:extLst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496215"/>
              </p:ext>
            </p:extLst>
          </p:nvPr>
        </p:nvGraphicFramePr>
        <p:xfrm>
          <a:off x="1066800" y="3528292"/>
          <a:ext cx="4114801" cy="1107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75490">
                  <a:extLst>
                    <a:ext uri="{9D8B030D-6E8A-4147-A177-3AD203B41FA5}">
                      <a16:colId xmlns:a16="http://schemas.microsoft.com/office/drawing/2014/main" val="1998508507"/>
                    </a:ext>
                  </a:extLst>
                </a:gridCol>
                <a:gridCol w="1774721">
                  <a:extLst>
                    <a:ext uri="{9D8B030D-6E8A-4147-A177-3AD203B41FA5}">
                      <a16:colId xmlns:a16="http://schemas.microsoft.com/office/drawing/2014/main" val="1848313721"/>
                    </a:ext>
                  </a:extLst>
                </a:gridCol>
                <a:gridCol w="1464590">
                  <a:extLst>
                    <a:ext uri="{9D8B030D-6E8A-4147-A177-3AD203B41FA5}">
                      <a16:colId xmlns:a16="http://schemas.microsoft.com/office/drawing/2014/main" val="382287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u="sng" dirty="0" err="1"/>
                        <a:t>IDFil</a:t>
                      </a:r>
                      <a:endParaRPr lang="pt-BR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none" dirty="0"/>
                        <a:t>Filmes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15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aseline="0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Bee</a:t>
                      </a:r>
                      <a:r>
                        <a:rPr lang="pt-BR" baseline="0" dirty="0"/>
                        <a:t> </a:t>
                      </a:r>
                      <a:r>
                        <a:rPr lang="pt-BR" baseline="0" dirty="0" err="1"/>
                        <a:t>Movie</a:t>
                      </a:r>
                      <a:endParaRPr lang="pt-BR" baseline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Steve </a:t>
                      </a:r>
                      <a:r>
                        <a:rPr lang="pt-BR" dirty="0" err="1"/>
                        <a:t>Hickner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7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aseline="0" dirty="0"/>
                        <a:t>Madagascar</a:t>
                      </a:r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Eric </a:t>
                      </a:r>
                      <a:r>
                        <a:rPr lang="pt-BR" dirty="0" err="1"/>
                        <a:t>Darnell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282068"/>
                  </a:ext>
                </a:extLst>
              </a:tr>
            </a:tbl>
          </a:graphicData>
        </a:graphic>
      </p:graphicFrame>
      <p:sp>
        <p:nvSpPr>
          <p:cNvPr id="10" name="Retângulo 9"/>
          <p:cNvSpPr/>
          <p:nvPr/>
        </p:nvSpPr>
        <p:spPr>
          <a:xfrm>
            <a:off x="838200" y="5158404"/>
            <a:ext cx="1013460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Está na 1FN? </a:t>
            </a:r>
            <a:r>
              <a:rPr lang="pt-BR" sz="2800" dirty="0">
                <a:solidFill>
                  <a:srgbClr val="00B050"/>
                </a:solidFill>
              </a:rPr>
              <a:t>Sim</a:t>
            </a:r>
          </a:p>
          <a:p>
            <a:r>
              <a:rPr lang="pt-BR" sz="2800" dirty="0"/>
              <a:t>Está na 2FN? </a:t>
            </a:r>
            <a:r>
              <a:rPr lang="pt-BR" sz="2800" dirty="0">
                <a:solidFill>
                  <a:srgbClr val="00B050"/>
                </a:solidFill>
              </a:rPr>
              <a:t>Sim</a:t>
            </a:r>
          </a:p>
          <a:p>
            <a:r>
              <a:rPr lang="pt-BR" sz="2800" dirty="0"/>
              <a:t>Está na 3FN? 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13531"/>
              </p:ext>
            </p:extLst>
          </p:nvPr>
        </p:nvGraphicFramePr>
        <p:xfrm>
          <a:off x="838200" y="1527341"/>
          <a:ext cx="5286376" cy="14782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3149167566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695682317"/>
                    </a:ext>
                  </a:extLst>
                </a:gridCol>
                <a:gridCol w="1135592">
                  <a:extLst>
                    <a:ext uri="{9D8B030D-6E8A-4147-A177-3AD203B41FA5}">
                      <a16:colId xmlns:a16="http://schemas.microsoft.com/office/drawing/2014/main" val="2380833832"/>
                    </a:ext>
                  </a:extLst>
                </a:gridCol>
                <a:gridCol w="1135592">
                  <a:extLst>
                    <a:ext uri="{9D8B030D-6E8A-4147-A177-3AD203B41FA5}">
                      <a16:colId xmlns:a16="http://schemas.microsoft.com/office/drawing/2014/main" val="2083571754"/>
                    </a:ext>
                  </a:extLst>
                </a:gridCol>
                <a:gridCol w="1135592">
                  <a:extLst>
                    <a:ext uri="{9D8B030D-6E8A-4147-A177-3AD203B41FA5}">
                      <a16:colId xmlns:a16="http://schemas.microsoft.com/office/drawing/2014/main" val="839026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u="sng" dirty="0" err="1"/>
                        <a:t>IDCli</a:t>
                      </a:r>
                      <a:endParaRPr lang="pt-BR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none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Cep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15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Warner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  <a:r>
                        <a:rPr lang="pt-BR" baseline="0" dirty="0"/>
                        <a:t>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12600000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Lorena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7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 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12700000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Guará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28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  <a:r>
                        <a:rPr lang="pt-BR" baseline="0" dirty="0"/>
                        <a:t>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12500000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Canas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976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681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761999" y="444167"/>
            <a:ext cx="824915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4200" kern="0" dirty="0"/>
              <a:t>Normalização - Exemplo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838200" y="5158404"/>
            <a:ext cx="1013460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Está na 1FN? </a:t>
            </a:r>
            <a:r>
              <a:rPr lang="pt-BR" sz="2800" dirty="0">
                <a:solidFill>
                  <a:srgbClr val="00B050"/>
                </a:solidFill>
              </a:rPr>
              <a:t>Sim</a:t>
            </a:r>
          </a:p>
          <a:p>
            <a:r>
              <a:rPr lang="pt-BR" sz="2800" dirty="0"/>
              <a:t>Está na 2FN? </a:t>
            </a:r>
            <a:r>
              <a:rPr lang="pt-BR" sz="2800" dirty="0">
                <a:solidFill>
                  <a:srgbClr val="00B050"/>
                </a:solidFill>
              </a:rPr>
              <a:t>Sim</a:t>
            </a:r>
          </a:p>
          <a:p>
            <a:r>
              <a:rPr lang="pt-BR" sz="2800" dirty="0"/>
              <a:t>Está na 3FN? </a:t>
            </a:r>
            <a:r>
              <a:rPr lang="pt-BR" sz="2800" dirty="0">
                <a:solidFill>
                  <a:srgbClr val="00B050"/>
                </a:solidFill>
              </a:rPr>
              <a:t>Sim</a:t>
            </a:r>
            <a:endParaRPr lang="pt-BR" sz="2800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208178"/>
              </p:ext>
            </p:extLst>
          </p:nvPr>
        </p:nvGraphicFramePr>
        <p:xfrm>
          <a:off x="7010400" y="1508686"/>
          <a:ext cx="3429000" cy="1371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8357175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839026397"/>
                    </a:ext>
                  </a:extLst>
                </a:gridCol>
              </a:tblGrid>
              <a:tr h="307744">
                <a:tc>
                  <a:txBody>
                    <a:bodyPr/>
                    <a:lstStyle/>
                    <a:p>
                      <a:r>
                        <a:rPr lang="pt-BR" u="sng" dirty="0" err="1"/>
                        <a:t>IDProd</a:t>
                      </a:r>
                      <a:endParaRPr lang="pt-BR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155144"/>
                  </a:ext>
                </a:extLst>
              </a:tr>
              <a:tr h="312018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Steve </a:t>
                      </a:r>
                      <a:r>
                        <a:rPr lang="pt-BR" dirty="0" err="1"/>
                        <a:t>Hickner</a:t>
                      </a:r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7550"/>
                  </a:ext>
                </a:extLst>
              </a:tr>
              <a:tr h="538552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Eric </a:t>
                      </a:r>
                      <a:r>
                        <a:rPr lang="pt-BR" dirty="0" err="1"/>
                        <a:t>Darnell</a:t>
                      </a:r>
                      <a:endParaRPr lang="pt-BR" dirty="0"/>
                    </a:p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282068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018321"/>
              </p:ext>
            </p:extLst>
          </p:nvPr>
        </p:nvGraphicFramePr>
        <p:xfrm>
          <a:off x="6124575" y="3733800"/>
          <a:ext cx="5305425" cy="25908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69568231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84831372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194958097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302657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u="sng" dirty="0" err="1"/>
                        <a:t>IDCli</a:t>
                      </a:r>
                      <a:endParaRPr lang="pt-BR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sng" dirty="0" err="1"/>
                        <a:t>IDFil</a:t>
                      </a:r>
                      <a:endParaRPr lang="pt-BR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Entrega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15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pt-BR" baseline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7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aseline="0" dirty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10/09/2020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12/09/2020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14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pt-BR" baseline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18/09/2020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28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aseline="0" dirty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18/09/2020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20/09/2020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6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pt-BR" baseline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03/09/2020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05/09/2020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976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aseline="0" dirty="0"/>
                        <a:t>2</a:t>
                      </a:r>
                      <a:endParaRPr lang="pt-B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03/09/2020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05/09/2020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538895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87699"/>
              </p:ext>
            </p:extLst>
          </p:nvPr>
        </p:nvGraphicFramePr>
        <p:xfrm>
          <a:off x="1066800" y="3528292"/>
          <a:ext cx="4114801" cy="1107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75490">
                  <a:extLst>
                    <a:ext uri="{9D8B030D-6E8A-4147-A177-3AD203B41FA5}">
                      <a16:colId xmlns:a16="http://schemas.microsoft.com/office/drawing/2014/main" val="1998508507"/>
                    </a:ext>
                  </a:extLst>
                </a:gridCol>
                <a:gridCol w="1774721">
                  <a:extLst>
                    <a:ext uri="{9D8B030D-6E8A-4147-A177-3AD203B41FA5}">
                      <a16:colId xmlns:a16="http://schemas.microsoft.com/office/drawing/2014/main" val="1848313721"/>
                    </a:ext>
                  </a:extLst>
                </a:gridCol>
                <a:gridCol w="1464590">
                  <a:extLst>
                    <a:ext uri="{9D8B030D-6E8A-4147-A177-3AD203B41FA5}">
                      <a16:colId xmlns:a16="http://schemas.microsoft.com/office/drawing/2014/main" val="382287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u="sng" dirty="0" err="1"/>
                        <a:t>IDFil</a:t>
                      </a:r>
                      <a:endParaRPr lang="pt-BR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none" dirty="0"/>
                        <a:t>Filmes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IDProd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15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aseline="0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Bee</a:t>
                      </a:r>
                      <a:r>
                        <a:rPr lang="pt-BR" baseline="0" dirty="0"/>
                        <a:t> </a:t>
                      </a:r>
                      <a:r>
                        <a:rPr lang="pt-BR" baseline="0" dirty="0" err="1"/>
                        <a:t>Movie</a:t>
                      </a:r>
                      <a:endParaRPr lang="pt-BR" baseline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7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aseline="0" dirty="0"/>
                        <a:t>Madagascar</a:t>
                      </a:r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282068"/>
                  </a:ext>
                </a:extLst>
              </a:tr>
            </a:tbl>
          </a:graphicData>
        </a:graphic>
      </p:graphicFrame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396782"/>
              </p:ext>
            </p:extLst>
          </p:nvPr>
        </p:nvGraphicFramePr>
        <p:xfrm>
          <a:off x="838200" y="1527341"/>
          <a:ext cx="4150784" cy="14782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3149167566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695682317"/>
                    </a:ext>
                  </a:extLst>
                </a:gridCol>
                <a:gridCol w="1135592">
                  <a:extLst>
                    <a:ext uri="{9D8B030D-6E8A-4147-A177-3AD203B41FA5}">
                      <a16:colId xmlns:a16="http://schemas.microsoft.com/office/drawing/2014/main" val="2380833832"/>
                    </a:ext>
                  </a:extLst>
                </a:gridCol>
                <a:gridCol w="1135592">
                  <a:extLst>
                    <a:ext uri="{9D8B030D-6E8A-4147-A177-3AD203B41FA5}">
                      <a16:colId xmlns:a16="http://schemas.microsoft.com/office/drawing/2014/main" val="2083571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u="sng" dirty="0" err="1"/>
                        <a:t>IDCli</a:t>
                      </a:r>
                      <a:endParaRPr lang="pt-BR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u="none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Cep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15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Warner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  <a:r>
                        <a:rPr lang="pt-BR" baseline="0" dirty="0"/>
                        <a:t>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12600000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7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 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12700000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28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Rua</a:t>
                      </a:r>
                      <a:r>
                        <a:rPr lang="pt-BR" baseline="0" dirty="0"/>
                        <a:t>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12500000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976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845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19EF86242CBA741A871CE7D125DB077" ma:contentTypeVersion="4" ma:contentTypeDescription="Crie um novo documento." ma:contentTypeScope="" ma:versionID="cacd35475db3110ecf7e60c90cfbe5ac">
  <xsd:schema xmlns:xsd="http://www.w3.org/2001/XMLSchema" xmlns:xs="http://www.w3.org/2001/XMLSchema" xmlns:p="http://schemas.microsoft.com/office/2006/metadata/properties" xmlns:ns2="429d3103-8a27-4d75-b1f9-e1715687ad07" targetNamespace="http://schemas.microsoft.com/office/2006/metadata/properties" ma:root="true" ma:fieldsID="cc67a719f8b6ea369b115065a9b7cd91" ns2:_="">
    <xsd:import namespace="429d3103-8a27-4d75-b1f9-e1715687ad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9d3103-8a27-4d75-b1f9-e1715687ad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6595BC-4788-4BE6-A365-C2788BC6326A}"/>
</file>

<file path=customXml/itemProps2.xml><?xml version="1.0" encoding="utf-8"?>
<ds:datastoreItem xmlns:ds="http://schemas.openxmlformats.org/officeDocument/2006/customXml" ds:itemID="{0D7BF7EA-533C-474E-9FD1-4B32A0D84681}"/>
</file>

<file path=customXml/itemProps3.xml><?xml version="1.0" encoding="utf-8"?>
<ds:datastoreItem xmlns:ds="http://schemas.openxmlformats.org/officeDocument/2006/customXml" ds:itemID="{0EB8E940-FB84-4889-A4F4-99F5C9B2806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3892</TotalTime>
  <Words>1128</Words>
  <Application>Microsoft Office PowerPoint</Application>
  <PresentationFormat>Widescreen</PresentationFormat>
  <Paragraphs>612</Paragraphs>
  <Slides>22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Carlito</vt:lpstr>
      <vt:lpstr>Century Gothic</vt:lpstr>
      <vt:lpstr>Courier New</vt:lpstr>
      <vt:lpstr>Trebuchet MS</vt:lpstr>
      <vt:lpstr>Wingdings</vt:lpstr>
      <vt:lpstr>Office Theme</vt:lpstr>
      <vt:lpstr>BANCO de dados NORMALIZAÇÃO</vt:lpstr>
      <vt:lpstr>Normalização</vt:lpstr>
      <vt:lpstr>Normalização</vt:lpstr>
      <vt:lpstr>Normalização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BUSTAMANTE FERREIRA LEONOR</dc:creator>
  <cp:lastModifiedBy>WARNER BREZOLIN</cp:lastModifiedBy>
  <cp:revision>409</cp:revision>
  <dcterms:created xsi:type="dcterms:W3CDTF">2020-02-06T23:16:28Z</dcterms:created>
  <dcterms:modified xsi:type="dcterms:W3CDTF">2023-03-20T10:38:06Z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2019-03-22T00:00:00Z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2020-02-06T00:00:00Z</vt:filetime>
  </property>
  <property fmtid="{D5CDD505-2E9C-101B-9397-08002B2CF9AE}" pid="5" name="ContentTypeId">
    <vt:lpwstr>0x010100119EF86242CBA741A871CE7D125DB077</vt:lpwstr>
  </property>
</Properties>
</file>